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主題はYOLOそのものではなく、画像処理が何を扱い、物体検出がどう変わったか。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画像処理の進化とフィジカルAI時代の役割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15分発表｜物体検出・前処理・YOLO・社内応用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29B"/>
                </a:solidFill>
              </a:rPr>
              <a:t>今日の主題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4937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画像処理は「画像を見る」技術ではなく、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画素値・配置から物理世界の状態を取り出す技術。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577840" y="196596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6429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32704" y="1892808"/>
            <a:ext cx="256032" cy="256032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32704" y="194767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25312" y="2307946"/>
            <a:ext cx="570586" cy="309067"/>
          </a:xfrm>
          <a:prstGeom prst="roundRect">
            <a:avLst>
              <a:gd name="adj" fmla="val 14793"/>
            </a:avLst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5017" y="2374514"/>
            <a:ext cx="166421" cy="166421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01390" y="2212848"/>
            <a:ext cx="118872" cy="104607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8072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</a:rPr>
              <a:t>撮像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03136" y="2395728"/>
            <a:ext cx="292608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196596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6429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87184" y="1892808"/>
            <a:ext cx="256032" cy="256032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87184" y="194767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79792" y="2212848"/>
            <a:ext cx="114117" cy="114117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08174" y="2212848"/>
            <a:ext cx="114117" cy="114117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36556" y="2212848"/>
            <a:ext cx="114117" cy="114117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9792" y="2341230"/>
            <a:ext cx="114117" cy="114117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8174" y="2341230"/>
            <a:ext cx="114117" cy="114117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36556" y="2341230"/>
            <a:ext cx="114117" cy="114117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79792" y="2469612"/>
            <a:ext cx="114117" cy="114117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08174" y="2469612"/>
            <a:ext cx="114117" cy="114117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36556" y="2469612"/>
            <a:ext cx="114117" cy="114117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28072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</a:rPr>
              <a:t>画素値・配置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357616" y="2395728"/>
            <a:ext cx="292608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0" y="196596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6429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41664" y="1892808"/>
            <a:ext cx="256032" cy="256032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41664" y="194767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200693" y="2379269"/>
            <a:ext cx="166421" cy="166421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34272" y="2212848"/>
            <a:ext cx="104607" cy="0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34272" y="2212848"/>
            <a:ext cx="0" cy="104607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90888" y="2212848"/>
            <a:ext cx="104607" cy="0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95495" y="2212848"/>
            <a:ext cx="0" cy="104607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34272" y="2674071"/>
            <a:ext cx="104607" cy="0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34272" y="2569464"/>
            <a:ext cx="0" cy="104607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90888" y="2674071"/>
            <a:ext cx="104607" cy="0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95495" y="2569464"/>
            <a:ext cx="0" cy="104607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32520" y="28072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</a:rPr>
              <a:t>物体抽出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912096" y="2395728"/>
            <a:ext cx="292608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241280" y="196596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6429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296144" y="1892808"/>
            <a:ext cx="256032" cy="256032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96144" y="194767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636301" y="2602748"/>
            <a:ext cx="228234" cy="71323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31398" y="2602748"/>
            <a:ext cx="85588" cy="-171176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816986" y="2431572"/>
            <a:ext cx="161666" cy="-104607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978652" y="2326965"/>
            <a:ext cx="71323" cy="166421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698114" y="2569464"/>
            <a:ext cx="66568" cy="665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783702" y="2398288"/>
            <a:ext cx="66568" cy="665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945368" y="2293681"/>
            <a:ext cx="66568" cy="665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016691" y="2460102"/>
            <a:ext cx="66568" cy="665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287000" y="28072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</a:rPr>
              <a:t>現場制御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852160" y="34015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29B"/>
                </a:solidFill>
              </a:rPr>
              <a:t>見る → 測る → 見つける → 判断・制御へ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566928" y="43891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4507992"/>
            <a:ext cx="10588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429B"/>
                </a:solidFill>
              </a:rPr>
              <a:t>この資料で整理すること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713232" y="4864608"/>
            <a:ext cx="1058875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① 画像処理の種類は「世代」だけではなく、用途・処理内容で分類する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② ただし、PC・GPU・AI基盤の発展で歴史的な進化の波はある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③ 人が行う前処理は「画像加工」から「データ・3D/時間・座標整合」へ変化する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https://www.phoxter.co.jp/useful/visual-inspection-algorithm  |  https://www.nvidia.com/en-us/glossary/generative-physical-ai/</a:t>
            </a:r>
            <a:endParaRPr lang="en-US" sz="5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本日の流れ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15分で「画像処理の基礎 → 進化 → Physical AI → YOLO → 社内事例」までつなぐ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30352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554480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6230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70432" y="1545336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29B"/>
                </a:solidFill>
              </a:rPr>
              <a:t>画像処理の種類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1938528"/>
            <a:ext cx="4828032" cy="-18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</a:rPr>
              <a:t>Phoxter整理を参考に、処理内容で分類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40080" y="2167128"/>
            <a:ext cx="530352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" y="2304288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37286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70432" y="2295144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29B"/>
                </a:solidFill>
              </a:rPr>
              <a:t>時代背景による進化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2688336"/>
            <a:ext cx="4828032" cy="-18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</a:rPr>
              <a:t>PC性能・GPU・大規模データ・Foundation Model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640080" y="2916936"/>
            <a:ext cx="530352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3054096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1226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70432" y="3044952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29B"/>
                </a:solidFill>
              </a:rPr>
              <a:t>前処理の変化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3438144"/>
            <a:ext cx="4828032" cy="-18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</a:rPr>
              <a:t>人が設計する処理は何が減り、何が増えるか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40080" y="3666744"/>
            <a:ext cx="530352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" y="3803904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38724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70432" y="3794760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29B"/>
                </a:solidFill>
              </a:rPr>
              <a:t>Physical AI時代の方向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4187952"/>
            <a:ext cx="4828032" cy="-18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</a:rPr>
              <a:t>2D検出・3D幾何・センサ融合・世界モデル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40080" y="4416552"/>
            <a:ext cx="530352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" y="4553712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46222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70432" y="4544568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29B"/>
                </a:solidFill>
              </a:rPr>
              <a:t>YOLOと社内事例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4937760"/>
            <a:ext cx="4828032" cy="-18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</a:rPr>
              <a:t>使いやすい物体検出の実例として紹介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400800" y="1600200"/>
            <a:ext cx="4480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6429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1980590"/>
            <a:ext cx="636422" cy="344729"/>
          </a:xfrm>
          <a:prstGeom prst="roundRect">
            <a:avLst>
              <a:gd name="adj" fmla="val 13263"/>
            </a:avLst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89308" y="2054840"/>
            <a:ext cx="185623" cy="18562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1416" y="1874520"/>
            <a:ext cx="132588" cy="116677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2066544"/>
            <a:ext cx="384048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28432" y="1856232"/>
            <a:ext cx="658368" cy="658368"/>
          </a:xfrm>
          <a:prstGeom prst="ellipse">
            <a:avLst/>
          </a:prstGeom>
          <a:solidFill>
            <a:srgbClr val="EAF3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28432" y="204057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06429B"/>
                </a:solidFill>
              </a:rPr>
              <a:t>AI</a:t>
            </a:r>
            <a:endParaRPr lang="en-US" sz="1152" dirty="0"/>
          </a:p>
        </p:txBody>
      </p:sp>
      <p:sp>
        <p:nvSpPr>
          <p:cNvPr id="40" name="Shape 38"/>
          <p:cNvSpPr/>
          <p:nvPr/>
        </p:nvSpPr>
        <p:spPr>
          <a:xfrm>
            <a:off x="8823960" y="2066544"/>
            <a:ext cx="384048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34779" y="2356957"/>
            <a:ext cx="298460" cy="93269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59138" y="2356957"/>
            <a:ext cx="111923" cy="-223845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71060" y="2133112"/>
            <a:ext cx="211409" cy="-136794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82469" y="1996318"/>
            <a:ext cx="93269" cy="217627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15612" y="2313432"/>
            <a:ext cx="87051" cy="87051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27535" y="2089587"/>
            <a:ext cx="87051" cy="87051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38944" y="1952793"/>
            <a:ext cx="87051" cy="87051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32213" y="2170420"/>
            <a:ext cx="87051" cy="87051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281635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29B"/>
                </a:solidFill>
              </a:rPr>
              <a:t>Camera → AI認識 → 現場活用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400800" y="3840480"/>
            <a:ext cx="4480560" cy="1078992"/>
          </a:xfrm>
          <a:prstGeom prst="roundRect">
            <a:avLst>
              <a:gd name="adj" fmla="val 6780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47104" y="3959352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429B"/>
                </a:solidFill>
              </a:rPr>
              <a:t>今日のゴール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547104" y="4315968"/>
            <a:ext cx="418795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「古い処理が消える」のではなく、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用途に応じて併用され、上位AIに統合されることを理解する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https://www.phoxter.co.jp/useful/visual-inspection-algorithm  |  https://docs.ultralytics.com/</a:t>
            </a:r>
            <a:endParaRPr lang="en-US" sz="5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画像処理の種類：世代だけでなく「方式」で分類する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二値化・エッジ・AIは置き換え関係ではなく、現場では今も併用される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1554480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6230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33272" y="154533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基本処理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" y="1938528"/>
            <a:ext cx="3044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ノイズ除去 / 平滑化 / 輝度補正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二値化 / エッジ抽出 / 膨張・収縮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71416" y="1554480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71416" y="16230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73752" y="154533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抽出・計測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36008" y="1938528"/>
            <a:ext cx="3044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ラベリング / 輪郭抽出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面積 / 重心 / 長さ / 角度 / 個数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83880" y="14173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11896" y="1554480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11896" y="16230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14232" y="154533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認識・判定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76488" y="1938528"/>
            <a:ext cx="3044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テンプレート / 特徴量 / SVM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CNN / YOLO / セグメンテーション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429B"/>
                </a:solidFill>
              </a:rPr>
              <a:t>分類のポイント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" y="3456432"/>
            <a:ext cx="182880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5478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分類軸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23160" y="3456432"/>
            <a:ext cx="228600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5478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見る情報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456432"/>
            <a:ext cx="274320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5478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代表処理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52360" y="3456432"/>
            <a:ext cx="411480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35478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人が主に決めること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3840480"/>
            <a:ext cx="1828800" cy="304038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" y="3895344"/>
            <a:ext cx="17190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6429B"/>
                </a:solidFill>
              </a:rPr>
              <a:t>画素値ベース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2423160" y="3840480"/>
            <a:ext cx="2286000" cy="304038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78024" y="3895344"/>
            <a:ext cx="21762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3333"/>
                </a:solidFill>
              </a:rPr>
              <a:t>明るさ・色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4709160" y="3840480"/>
            <a:ext cx="2743200" cy="304038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64024" y="3895344"/>
            <a:ext cx="26334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3333"/>
                </a:solidFill>
              </a:rPr>
              <a:t>二値化 / 色抽出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7452360" y="3840480"/>
            <a:ext cx="4114800" cy="304038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07224" y="3895344"/>
            <a:ext cx="40050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3333"/>
                </a:solidFill>
              </a:rPr>
              <a:t>照明・閾値・ROI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594360" y="4144518"/>
            <a:ext cx="1828800" cy="304038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" y="4199382"/>
            <a:ext cx="17190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6429B"/>
                </a:solidFill>
              </a:rPr>
              <a:t>形状・幾何ベース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2423160" y="4144518"/>
            <a:ext cx="2286000" cy="304038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78024" y="4199382"/>
            <a:ext cx="21762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3333"/>
                </a:solidFill>
              </a:rPr>
              <a:t>輪郭・線・円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4709160" y="4144518"/>
            <a:ext cx="2743200" cy="304038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64024" y="4199382"/>
            <a:ext cx="26334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3333"/>
                </a:solidFill>
              </a:rPr>
              <a:t>エッジ / Hough / 輪郭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7452360" y="4144518"/>
            <a:ext cx="4114800" cy="304038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07224" y="4199382"/>
            <a:ext cx="40050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3333"/>
                </a:solidFill>
              </a:rPr>
              <a:t>フィルタ・形状条件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594360" y="4448556"/>
            <a:ext cx="1828800" cy="304038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" y="4503420"/>
            <a:ext cx="17190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6429B"/>
                </a:solidFill>
              </a:rPr>
              <a:t>パターン/特徴量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2423160" y="4448556"/>
            <a:ext cx="2286000" cy="304038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78024" y="4503420"/>
            <a:ext cx="21762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3333"/>
                </a:solidFill>
              </a:rPr>
              <a:t>局所特徴・勾配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4709160" y="4448556"/>
            <a:ext cx="2743200" cy="304038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64024" y="4503420"/>
            <a:ext cx="26334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3333"/>
                </a:solidFill>
              </a:rPr>
              <a:t>Template / SIFT / HOG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7452360" y="4448556"/>
            <a:ext cx="4114800" cy="304038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07224" y="4503420"/>
            <a:ext cx="40050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3333"/>
                </a:solidFill>
              </a:rPr>
              <a:t>特徴量と分類器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594360" y="4752594"/>
            <a:ext cx="1828800" cy="304038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" y="4807458"/>
            <a:ext cx="17190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6429B"/>
                </a:solidFill>
              </a:rPr>
              <a:t>学習ベース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2423160" y="4752594"/>
            <a:ext cx="2286000" cy="304038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78024" y="4807458"/>
            <a:ext cx="21762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3333"/>
                </a:solidFill>
              </a:rPr>
              <a:t>画像中の統計パターン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4709160" y="4752594"/>
            <a:ext cx="2743200" cy="304038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64024" y="4807458"/>
            <a:ext cx="26334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3333"/>
                </a:solidFill>
              </a:rPr>
              <a:t>CNN / YOLO / SAM</a:t>
            </a:r>
            <a:endParaRPr lang="en-US" sz="840" dirty="0"/>
          </a:p>
        </p:txBody>
      </p:sp>
      <p:sp>
        <p:nvSpPr>
          <p:cNvPr id="62" name="Shape 60"/>
          <p:cNvSpPr/>
          <p:nvPr/>
        </p:nvSpPr>
        <p:spPr>
          <a:xfrm>
            <a:off x="7452360" y="4752594"/>
            <a:ext cx="4114800" cy="304038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07224" y="4807458"/>
            <a:ext cx="4005072" cy="212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3333"/>
                </a:solidFill>
              </a:rPr>
              <a:t>データ・ラベル・評価基準</a:t>
            </a:r>
            <a:endParaRPr lang="en-US" sz="840" dirty="0"/>
          </a:p>
        </p:txBody>
      </p:sp>
      <p:sp>
        <p:nvSpPr>
          <p:cNvPr id="64" name="Shape 62"/>
          <p:cNvSpPr/>
          <p:nvPr/>
        </p:nvSpPr>
        <p:spPr>
          <a:xfrm>
            <a:off x="594360" y="5440680"/>
            <a:ext cx="10972800" cy="548640"/>
          </a:xfrm>
          <a:prstGeom prst="roundRect">
            <a:avLst>
              <a:gd name="adj" fmla="val 13333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0664" y="5559552"/>
            <a:ext cx="10680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29B"/>
                </a:solidFill>
              </a:rPr>
              <a:t>発表での扱い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40664" y="5916168"/>
            <a:ext cx="10680192" cy="-18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</a:rPr>
              <a:t>歴史説明として「時代の波」は使う。ただし技術分類としては、Phoxter記事のように処理内容・用途で整理する方が正確。</a:t>
            </a:r>
            <a:endParaRPr lang="en-US" sz="1020" dirty="0"/>
          </a:p>
        </p:txBody>
      </p:sp>
      <p:sp>
        <p:nvSpPr>
          <p:cNvPr id="67" name="Text 65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https://www.phoxter.co.jp/useful/visual-inspection-algorithm</a:t>
            </a:r>
            <a:endParaRPr lang="en-US" sz="5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時代背景で見た画像処理の進化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技術は「消える」のではなく、計算資源・データ・ハードウェアの発展で役割が広がった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08760"/>
            <a:ext cx="2468880" cy="594360"/>
          </a:xfrm>
          <a:prstGeom prst="rect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6733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1980〜1990s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" y="226771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ルールベース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" y="2788920"/>
            <a:ext cx="214884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専用装置・固定環境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二値化 / エッジ / 輪郭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822192"/>
            <a:ext cx="201168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4041648"/>
            <a:ext cx="2148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29B"/>
                </a:solidFill>
              </a:rPr>
              <a:t>人が閾値・照明・条件を設計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44952" y="2862072"/>
            <a:ext cx="320040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50876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01568" y="1508760"/>
            <a:ext cx="2468880" cy="594360"/>
          </a:xfrm>
          <a:prstGeom prst="rect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6733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2000s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11296" y="226771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PC性能向上＋機械学習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2788920"/>
            <a:ext cx="214884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特徴量＋SVM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SIFT/HOG/Template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30168" y="3822192"/>
            <a:ext cx="201168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4041648"/>
            <a:ext cx="2148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29B"/>
                </a:solidFill>
              </a:rPr>
              <a:t>人が特徴量と分類器を設計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0" y="2862072"/>
            <a:ext cx="320040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0216" y="150876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0216" y="1508760"/>
            <a:ext cx="2468880" cy="594360"/>
          </a:xfrm>
          <a:prstGeom prst="rect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16733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2012〜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9944" y="226771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GPU＋大規模データ＋CNN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64808" y="2788920"/>
            <a:ext cx="214884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AlexNet以降、特徴抽出を学習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Faster R-CNN / SSD / YOLO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28816" y="3822192"/>
            <a:ext cx="201168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4041648"/>
            <a:ext cx="2148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29B"/>
                </a:solidFill>
              </a:rPr>
              <a:t>人はデータ・ラベルを設計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842248" y="2862072"/>
            <a:ext cx="320040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8864" y="150876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98864" y="1508760"/>
            <a:ext cx="2468880" cy="594360"/>
          </a:xfrm>
          <a:prstGeom prst="rect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72016" y="16733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2020s〜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308592" y="226771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Foundation/3D/Physical AI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363456" y="2788920"/>
            <a:ext cx="214884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SAM / Open-vocab / 3D Vision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VLA / World Model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427464" y="3822192"/>
            <a:ext cx="201168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63456" y="4041648"/>
            <a:ext cx="2148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29B"/>
                </a:solidFill>
              </a:rPr>
              <a:t>人は座標整合・タスク設計へ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4360" y="5230368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" y="5349240"/>
            <a:ext cx="10680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29B"/>
                </a:solidFill>
              </a:rPr>
              <a:t>重要な補足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0664" y="5705856"/>
            <a:ext cx="1068019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3333"/>
                </a:solidFill>
              </a:rPr>
              <a:t>「2012年以降＝全部AI」ではない。現場では、ルールベース＋AI＋3D計測が対象・コスト・説明性に応じて併用される。</a:t>
            </a:r>
            <a:endParaRPr lang="en-US" sz="1070" dirty="0"/>
          </a:p>
        </p:txBody>
      </p:sp>
      <p:sp>
        <p:nvSpPr>
          <p:cNvPr id="42" name="Text 40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https://docs.nvidia.com/cuda/cuda-programming-guide/01-introduction/introduction.html  |  https://papers.nips.cc/paper/4824-imagenet-classification-with-deep-convolutional-neural-networks</a:t>
            </a:r>
            <a:endParaRPr lang="en-US" sz="5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人が行う前処理はどう変わったか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「画像を加工して物体を見つける」から「データ・物理空間を整える」へ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141732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447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方式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1874520" y="1353312"/>
            <a:ext cx="379476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444752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人が行う主な前処理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5669280" y="1353312"/>
            <a:ext cx="333756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4447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AI/アルゴリズム側で吸収される処理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9006840" y="1353312"/>
            <a:ext cx="274320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4447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次世代で残るか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457200" y="1737360"/>
            <a:ext cx="1417320" cy="598932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1792224"/>
            <a:ext cx="130759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b="1" dirty="0">
                <a:solidFill>
                  <a:srgbClr val="06429B"/>
                </a:solidFill>
              </a:rPr>
              <a:t>二値化・ルール</a:t>
            </a:r>
            <a:endParaRPr lang="en-US" sz="715" dirty="0"/>
          </a:p>
        </p:txBody>
      </p:sp>
      <p:sp>
        <p:nvSpPr>
          <p:cNvPr id="18" name="Shape 16"/>
          <p:cNvSpPr/>
          <p:nvPr/>
        </p:nvSpPr>
        <p:spPr>
          <a:xfrm>
            <a:off x="1874520" y="1737360"/>
            <a:ext cx="379476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9384" y="1792224"/>
            <a:ext cx="368503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照明設計、ROI、平滑化、閾値、膨張/収縮、面積条件</a:t>
            </a:r>
            <a:endParaRPr lang="en-US" sz="715" dirty="0"/>
          </a:p>
        </p:txBody>
      </p:sp>
      <p:sp>
        <p:nvSpPr>
          <p:cNvPr id="20" name="Shape 18"/>
          <p:cNvSpPr/>
          <p:nvPr/>
        </p:nvSpPr>
        <p:spPr>
          <a:xfrm>
            <a:off x="5669280" y="1737360"/>
            <a:ext cx="333756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24144" y="1792224"/>
            <a:ext cx="322783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少ない。検出ロジックは人が作る</a:t>
            </a:r>
            <a:endParaRPr lang="en-US" sz="715" dirty="0"/>
          </a:p>
        </p:txBody>
      </p:sp>
      <p:sp>
        <p:nvSpPr>
          <p:cNvPr id="22" name="Shape 20"/>
          <p:cNvSpPr/>
          <p:nvPr/>
        </p:nvSpPr>
        <p:spPr>
          <a:xfrm>
            <a:off x="9006840" y="1737360"/>
            <a:ext cx="274320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61704" y="1792224"/>
            <a:ext cx="263347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残る：高速・安価・説明可能</a:t>
            </a:r>
            <a:endParaRPr lang="en-US" sz="715" dirty="0"/>
          </a:p>
        </p:txBody>
      </p:sp>
      <p:sp>
        <p:nvSpPr>
          <p:cNvPr id="24" name="Shape 22"/>
          <p:cNvSpPr/>
          <p:nvPr/>
        </p:nvSpPr>
        <p:spPr>
          <a:xfrm>
            <a:off x="457200" y="2336292"/>
            <a:ext cx="1417320" cy="598932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2391156"/>
            <a:ext cx="130759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b="1" dirty="0">
                <a:solidFill>
                  <a:srgbClr val="06429B"/>
                </a:solidFill>
              </a:rPr>
              <a:t>特徴量＋ML</a:t>
            </a:r>
            <a:endParaRPr lang="en-US" sz="715" dirty="0"/>
          </a:p>
        </p:txBody>
      </p:sp>
      <p:sp>
        <p:nvSpPr>
          <p:cNvPr id="26" name="Shape 24"/>
          <p:cNvSpPr/>
          <p:nvPr/>
        </p:nvSpPr>
        <p:spPr>
          <a:xfrm>
            <a:off x="1874520" y="2336292"/>
            <a:ext cx="379476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9384" y="2391156"/>
            <a:ext cx="368503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画像正規化、特徴量選定、SIFT/HOG、Window設計、分類器設定</a:t>
            </a:r>
            <a:endParaRPr lang="en-US" sz="715" dirty="0"/>
          </a:p>
        </p:txBody>
      </p:sp>
      <p:sp>
        <p:nvSpPr>
          <p:cNvPr id="28" name="Shape 26"/>
          <p:cNvSpPr/>
          <p:nvPr/>
        </p:nvSpPr>
        <p:spPr>
          <a:xfrm>
            <a:off x="5669280" y="2336292"/>
            <a:ext cx="333756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24144" y="2391156"/>
            <a:ext cx="322783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分類境界は学習するが特徴量は人が設計</a:t>
            </a:r>
            <a:endParaRPr lang="en-US" sz="715" dirty="0"/>
          </a:p>
        </p:txBody>
      </p:sp>
      <p:sp>
        <p:nvSpPr>
          <p:cNvPr id="30" name="Shape 28"/>
          <p:cNvSpPr/>
          <p:nvPr/>
        </p:nvSpPr>
        <p:spPr>
          <a:xfrm>
            <a:off x="9006840" y="2336292"/>
            <a:ext cx="274320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61704" y="2391156"/>
            <a:ext cx="263347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一部残る：説明性・少データ用途</a:t>
            </a:r>
            <a:endParaRPr lang="en-US" sz="715" dirty="0"/>
          </a:p>
        </p:txBody>
      </p:sp>
      <p:sp>
        <p:nvSpPr>
          <p:cNvPr id="32" name="Shape 30"/>
          <p:cNvSpPr/>
          <p:nvPr/>
        </p:nvSpPr>
        <p:spPr>
          <a:xfrm>
            <a:off x="457200" y="2935224"/>
            <a:ext cx="1417320" cy="598932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2990088"/>
            <a:ext cx="130759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b="1" dirty="0">
                <a:solidFill>
                  <a:srgbClr val="06429B"/>
                </a:solidFill>
              </a:rPr>
              <a:t>CNN/Two-stage</a:t>
            </a:r>
            <a:endParaRPr lang="en-US" sz="715" dirty="0"/>
          </a:p>
        </p:txBody>
      </p:sp>
      <p:sp>
        <p:nvSpPr>
          <p:cNvPr id="34" name="Shape 32"/>
          <p:cNvSpPr/>
          <p:nvPr/>
        </p:nvSpPr>
        <p:spPr>
          <a:xfrm>
            <a:off x="1874520" y="2935224"/>
            <a:ext cx="379476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9384" y="2990088"/>
            <a:ext cx="368503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Resize/Normalize、アノテーション、Augmentation、候補領域の設計/調整</a:t>
            </a:r>
            <a:endParaRPr lang="en-US" sz="715" dirty="0"/>
          </a:p>
        </p:txBody>
      </p:sp>
      <p:sp>
        <p:nvSpPr>
          <p:cNvPr id="36" name="Shape 34"/>
          <p:cNvSpPr/>
          <p:nvPr/>
        </p:nvSpPr>
        <p:spPr>
          <a:xfrm>
            <a:off x="5669280" y="2935224"/>
            <a:ext cx="333756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24144" y="2990088"/>
            <a:ext cx="322783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特徴抽出、一部の候補生成</a:t>
            </a:r>
            <a:endParaRPr lang="en-US" sz="715" dirty="0"/>
          </a:p>
        </p:txBody>
      </p:sp>
      <p:sp>
        <p:nvSpPr>
          <p:cNvPr id="38" name="Shape 36"/>
          <p:cNvSpPr/>
          <p:nvPr/>
        </p:nvSpPr>
        <p:spPr>
          <a:xfrm>
            <a:off x="9006840" y="2935224"/>
            <a:ext cx="274320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61704" y="2990088"/>
            <a:ext cx="263347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高度用途で残る</a:t>
            </a:r>
            <a:endParaRPr lang="en-US" sz="715" dirty="0"/>
          </a:p>
        </p:txBody>
      </p:sp>
      <p:sp>
        <p:nvSpPr>
          <p:cNvPr id="40" name="Shape 38"/>
          <p:cNvSpPr/>
          <p:nvPr/>
        </p:nvSpPr>
        <p:spPr>
          <a:xfrm>
            <a:off x="457200" y="3534156"/>
            <a:ext cx="1417320" cy="598932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" y="3589020"/>
            <a:ext cx="130759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b="1" dirty="0">
                <a:solidFill>
                  <a:srgbClr val="06429B"/>
                </a:solidFill>
              </a:rPr>
              <a:t>YOLO/SSD</a:t>
            </a:r>
            <a:endParaRPr lang="en-US" sz="715" dirty="0"/>
          </a:p>
        </p:txBody>
      </p:sp>
      <p:sp>
        <p:nvSpPr>
          <p:cNvPr id="42" name="Shape 40"/>
          <p:cNvSpPr/>
          <p:nvPr/>
        </p:nvSpPr>
        <p:spPr>
          <a:xfrm>
            <a:off x="1874520" y="3534156"/>
            <a:ext cx="379476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29384" y="3589020"/>
            <a:ext cx="368503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Resize/Letterbox、BBoxラベル、学習データの偏り対策</a:t>
            </a:r>
            <a:endParaRPr lang="en-US" sz="715" dirty="0"/>
          </a:p>
        </p:txBody>
      </p:sp>
      <p:sp>
        <p:nvSpPr>
          <p:cNvPr id="44" name="Shape 42"/>
          <p:cNvSpPr/>
          <p:nvPr/>
        </p:nvSpPr>
        <p:spPr>
          <a:xfrm>
            <a:off x="5669280" y="3534156"/>
            <a:ext cx="333756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24144" y="3589020"/>
            <a:ext cx="322783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特徴抽出＋位置/種類推定</a:t>
            </a:r>
            <a:endParaRPr lang="en-US" sz="715" dirty="0"/>
          </a:p>
        </p:txBody>
      </p:sp>
      <p:sp>
        <p:nvSpPr>
          <p:cNvPr id="46" name="Shape 44"/>
          <p:cNvSpPr/>
          <p:nvPr/>
        </p:nvSpPr>
        <p:spPr>
          <a:xfrm>
            <a:off x="9006840" y="3534156"/>
            <a:ext cx="274320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61704" y="3589020"/>
            <a:ext cx="263347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残る：実装容易・高速</a:t>
            </a:r>
            <a:endParaRPr lang="en-US" sz="715" dirty="0"/>
          </a:p>
        </p:txBody>
      </p:sp>
      <p:sp>
        <p:nvSpPr>
          <p:cNvPr id="48" name="Shape 46"/>
          <p:cNvSpPr/>
          <p:nvPr/>
        </p:nvSpPr>
        <p:spPr>
          <a:xfrm>
            <a:off x="457200" y="4133088"/>
            <a:ext cx="1417320" cy="598932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" y="4187952"/>
            <a:ext cx="130759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b="1" dirty="0">
                <a:solidFill>
                  <a:srgbClr val="06429B"/>
                </a:solidFill>
              </a:rPr>
              <a:t>DETR/End-to-End</a:t>
            </a:r>
            <a:endParaRPr lang="en-US" sz="715" dirty="0"/>
          </a:p>
        </p:txBody>
      </p:sp>
      <p:sp>
        <p:nvSpPr>
          <p:cNvPr id="50" name="Shape 48"/>
          <p:cNvSpPr/>
          <p:nvPr/>
        </p:nvSpPr>
        <p:spPr>
          <a:xfrm>
            <a:off x="1874520" y="4133088"/>
            <a:ext cx="379476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29384" y="4187952"/>
            <a:ext cx="368503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Resize/Normalize、教師データ、評価基準</a:t>
            </a:r>
            <a:endParaRPr lang="en-US" sz="715" dirty="0"/>
          </a:p>
        </p:txBody>
      </p:sp>
      <p:sp>
        <p:nvSpPr>
          <p:cNvPr id="52" name="Shape 50"/>
          <p:cNvSpPr/>
          <p:nvPr/>
        </p:nvSpPr>
        <p:spPr>
          <a:xfrm>
            <a:off x="5669280" y="4133088"/>
            <a:ext cx="333756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24144" y="4187952"/>
            <a:ext cx="322783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Anchor/Proposal/NMSの一部を吸収</a:t>
            </a:r>
            <a:endParaRPr lang="en-US" sz="715" dirty="0"/>
          </a:p>
        </p:txBody>
      </p:sp>
      <p:sp>
        <p:nvSpPr>
          <p:cNvPr id="54" name="Shape 52"/>
          <p:cNvSpPr/>
          <p:nvPr/>
        </p:nvSpPr>
        <p:spPr>
          <a:xfrm>
            <a:off x="9006840" y="4133088"/>
            <a:ext cx="274320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61704" y="4187952"/>
            <a:ext cx="263347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増える：NMS-free方向</a:t>
            </a:r>
            <a:endParaRPr lang="en-US" sz="715" dirty="0"/>
          </a:p>
        </p:txBody>
      </p:sp>
      <p:sp>
        <p:nvSpPr>
          <p:cNvPr id="56" name="Shape 54"/>
          <p:cNvSpPr/>
          <p:nvPr/>
        </p:nvSpPr>
        <p:spPr>
          <a:xfrm>
            <a:off x="457200" y="4732020"/>
            <a:ext cx="1417320" cy="598932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" y="4786884"/>
            <a:ext cx="130759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b="1" dirty="0">
                <a:solidFill>
                  <a:srgbClr val="06429B"/>
                </a:solidFill>
              </a:rPr>
              <a:t>Physical AI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1874520" y="4732020"/>
            <a:ext cx="379476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29384" y="4786884"/>
            <a:ext cx="368503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カメラ校正、Depth整合、LiDAR外部標定、時刻同期、座標系統一</a:t>
            </a:r>
            <a:endParaRPr lang="en-US" sz="715" dirty="0"/>
          </a:p>
        </p:txBody>
      </p:sp>
      <p:sp>
        <p:nvSpPr>
          <p:cNvPr id="60" name="Shape 58"/>
          <p:cNvSpPr/>
          <p:nvPr/>
        </p:nvSpPr>
        <p:spPr>
          <a:xfrm>
            <a:off x="5669280" y="4732020"/>
            <a:ext cx="333756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24144" y="4786884"/>
            <a:ext cx="322783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認識〜予測〜行動をモデル化</a:t>
            </a:r>
            <a:endParaRPr lang="en-US" sz="715" dirty="0"/>
          </a:p>
        </p:txBody>
      </p:sp>
      <p:sp>
        <p:nvSpPr>
          <p:cNvPr id="62" name="Shape 60"/>
          <p:cNvSpPr/>
          <p:nvPr/>
        </p:nvSpPr>
        <p:spPr>
          <a:xfrm>
            <a:off x="9006840" y="4732020"/>
            <a:ext cx="2743200" cy="598932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61704" y="4786884"/>
            <a:ext cx="2633472" cy="5074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333333"/>
                </a:solidFill>
              </a:rPr>
              <a:t>増える：物理空間の前処理</a:t>
            </a:r>
            <a:endParaRPr lang="en-US" sz="715" dirty="0"/>
          </a:p>
        </p:txBody>
      </p:sp>
      <p:sp>
        <p:nvSpPr>
          <p:cNvPr id="64" name="Shape 62"/>
          <p:cNvSpPr/>
          <p:nvPr/>
        </p:nvSpPr>
        <p:spPr>
          <a:xfrm>
            <a:off x="731520" y="5559552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77824" y="5678424"/>
            <a:ext cx="10497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29B"/>
                </a:solidFill>
              </a:rPr>
              <a:t>結論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77824" y="6035040"/>
            <a:ext cx="10497312" cy="-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前処理はなくならない。人の作業は「閾値・特徴量づくり」から「データ設計・3D座標整合・センサ同期」に移る。</a:t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https://www.phoxter.co.jp/useful/visual-inspection-algorithm  |  https://docs.ultralytics.com/guides/end2end-detection</a:t>
            </a:r>
            <a:endParaRPr lang="en-US" sz="5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ルールベース物体抽出：今でも主流の基本形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画素値の配置から物体を抽出し、面積・重心・寸法などを計測する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62763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29B"/>
                </a:solidFill>
              </a:rPr>
              <a:t>元画像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1984248"/>
            <a:ext cx="121615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RGB / 輝度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75688" y="1865376"/>
            <a:ext cx="256032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150876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62763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29B"/>
                </a:solidFill>
              </a:rPr>
              <a:t>前処理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1984248"/>
            <a:ext cx="121615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平滑化・補正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68496" y="1865376"/>
            <a:ext cx="256032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88536" y="150876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62763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29B"/>
                </a:solidFill>
              </a:rPr>
              <a:t>二値化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1984248"/>
            <a:ext cx="121615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閾値で白黒化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61304" y="1865376"/>
            <a:ext cx="256032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1344" y="150876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162763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29B"/>
                </a:solidFill>
              </a:rPr>
              <a:t>形態処理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7648" y="1984248"/>
            <a:ext cx="121615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膨張・収縮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54112" y="1865376"/>
            <a:ext cx="256032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74152" y="150876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0456" y="162763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29B"/>
                </a:solidFill>
              </a:rPr>
              <a:t>輪郭/Blob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0456" y="1984248"/>
            <a:ext cx="121615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物体抽出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646920" y="1865376"/>
            <a:ext cx="256032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66960" y="150876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13264" y="162763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29B"/>
                </a:solidFill>
              </a:rPr>
              <a:t>計測・判定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13264" y="1984248"/>
            <a:ext cx="121615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面積・重心・個数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4360" y="2926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429B"/>
                </a:solidFill>
              </a:rPr>
              <a:t>人が調整する主な前処理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94360" y="3337560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38785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照明・背景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2697480" y="3337560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97480" y="338785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ROI</a:t>
            </a:r>
            <a:endParaRPr lang="en-US" sz="730" dirty="0"/>
          </a:p>
        </p:txBody>
      </p:sp>
      <p:sp>
        <p:nvSpPr>
          <p:cNvPr id="36" name="Shape 34"/>
          <p:cNvSpPr/>
          <p:nvPr/>
        </p:nvSpPr>
        <p:spPr>
          <a:xfrm>
            <a:off x="4800600" y="3337560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38785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閾値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6903720" y="3337560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0A62C9"/>
          </a:solidFill>
          <a:ln w="12700">
            <a:solidFill>
              <a:srgbClr val="0A62C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338785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ノイズ除去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9006840" y="3337560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0A62C9"/>
          </a:solidFill>
          <a:ln w="12700">
            <a:solidFill>
              <a:srgbClr val="0A62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06840" y="338785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面積/形状条件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594360" y="388620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" y="4005072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強み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40664" y="4361688"/>
            <a:ext cx="473659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高速・安定・説明可能。固定カメラ・固定照明・固定対象の検査では今後も有効。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89320" y="388620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35624" y="400507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弱み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35624" y="4361688"/>
            <a:ext cx="4919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照明・背景・姿勢が変わると、閾値や条件の再調整が必要。未知パターンには弱い。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https://www.phoxter.co.jp/useful/visual-inspection-algorithm  |  https://docs.opencv.org/</a:t>
            </a:r>
            <a:endParaRPr lang="en-US" sz="5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PC・GPU・データが画像処理を変えた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「人が特徴を設計」から「モデルが特徴を学習」へ変わった背景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645920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7145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" y="163677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2000年代：PC性能向上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6968" y="2029968"/>
            <a:ext cx="272491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大量画像の処理・保存が容易に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SIFT/HOG＋SVMなどの機械学習が実用化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前処理：特徴量・Window・分類器を人が設計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480560" y="15087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1645920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17145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10912" y="163677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2012年：ImageNet/AlexNet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73168" y="2029968"/>
            <a:ext cx="272491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大規模データ＋GPU実装でCNNが飛躍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特徴抽出をネットワークが学習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前処理：主にResize/Normalize＋教師データ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8366760" y="15087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94776" y="1645920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94776" y="17145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97112" y="163677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2020年代：Edge/基盤モデル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59368" y="2029968"/>
            <a:ext cx="272491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SAM・Open-vocabulary・3D Geometry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少量データ・テキスト指示・動画/3Dへ拡張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前処理：座標・同期・データ管理が重要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85800" y="3977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429B"/>
                </a:solidFill>
              </a:rPr>
              <a:t>技術進化の意味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4370832"/>
            <a:ext cx="544068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462272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変化前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4370832"/>
            <a:ext cx="544068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4462272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変化後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4754880"/>
            <a:ext cx="5440680" cy="265176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" y="4809744"/>
            <a:ext cx="5330952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6429B"/>
                </a:solidFill>
              </a:rPr>
              <a:t>画像を人が加工して、物体らしさを強調する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126480" y="4754880"/>
            <a:ext cx="5440680" cy="265176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4809744"/>
            <a:ext cx="5330952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モデルが画像から特徴を学び、物体らしさを内部表現する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85800" y="5020056"/>
            <a:ext cx="5440680" cy="265176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" y="5074920"/>
            <a:ext cx="5330952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6429B"/>
                </a:solidFill>
              </a:rPr>
              <a:t>前処理＝閾値・特徴量・候補領域の設計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126480" y="5020056"/>
            <a:ext cx="5440680" cy="265176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81344" y="5074920"/>
            <a:ext cx="5330952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前処理＝データ・座標・センサ・運用条件の設計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https://docs.nvidia.com/cuda/cuda-programming-guide/01-introduction/introduction.html  |  https://papers.nips.cc/paper/4824-imagenet-classification-with-deep-convolutional-neural-networks</a:t>
            </a:r>
            <a:endParaRPr lang="en-US" sz="5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進化の方向：2D認識＋3D幾何＋センサ融合へ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Physical AIでは、画像中の物体だけでなく、物理世界の状態を作ることが重要になる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164592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087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方向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48840" y="1417320"/>
            <a:ext cx="292608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5087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代表技術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74920" y="1417320"/>
            <a:ext cx="310896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5087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何ができるか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83880" y="1417320"/>
            <a:ext cx="352044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5087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人が整える前処理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1801368"/>
            <a:ext cx="1645920" cy="709574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" y="1856232"/>
            <a:ext cx="153619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6429B"/>
                </a:solidFill>
              </a:rPr>
              <a:t>2D認識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2148840" y="1801368"/>
            <a:ext cx="292608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03704" y="1856232"/>
            <a:ext cx="281635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YOLO / CNN / SAM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074920" y="1801368"/>
            <a:ext cx="310896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9784" y="1856232"/>
            <a:ext cx="299923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物体・欠陥・領域を認識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8183880" y="1801368"/>
            <a:ext cx="352044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1856232"/>
            <a:ext cx="341071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Resize・ラベル設計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502920" y="2510942"/>
            <a:ext cx="1645920" cy="709574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" y="2565806"/>
            <a:ext cx="153619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6429B"/>
                </a:solidFill>
              </a:rPr>
              <a:t>動画・追跡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2148840" y="2510942"/>
            <a:ext cx="292608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03704" y="2565806"/>
            <a:ext cx="281635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Tracking / Video Segmentation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5074920" y="2510942"/>
            <a:ext cx="310896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9784" y="2565806"/>
            <a:ext cx="299923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動き・状態変化・遮蔽を扱う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8183880" y="2510942"/>
            <a:ext cx="352044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38744" y="2565806"/>
            <a:ext cx="341071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時系列データ・フレーム同期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502920" y="3220517"/>
            <a:ext cx="1645920" cy="709574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" y="3275381"/>
            <a:ext cx="153619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6429B"/>
                </a:solidFill>
              </a:rPr>
              <a:t>3D幾何</a:t>
            </a:r>
            <a:endParaRPr lang="en-US" sz="770" dirty="0"/>
          </a:p>
        </p:txBody>
      </p:sp>
      <p:sp>
        <p:nvSpPr>
          <p:cNvPr id="34" name="Shape 32"/>
          <p:cNvSpPr/>
          <p:nvPr/>
        </p:nvSpPr>
        <p:spPr>
          <a:xfrm>
            <a:off x="2148840" y="3220517"/>
            <a:ext cx="292608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03704" y="3275381"/>
            <a:ext cx="281635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Depth / Stereo / VGGT / DUSt3R</a:t>
            </a:r>
            <a:endParaRPr lang="en-US" sz="770" dirty="0"/>
          </a:p>
        </p:txBody>
      </p:sp>
      <p:sp>
        <p:nvSpPr>
          <p:cNvPr id="36" name="Shape 34"/>
          <p:cNvSpPr/>
          <p:nvPr/>
        </p:nvSpPr>
        <p:spPr>
          <a:xfrm>
            <a:off x="5074920" y="3220517"/>
            <a:ext cx="310896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9784" y="3275381"/>
            <a:ext cx="299923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距離・姿勢・点群・空間形状</a:t>
            </a:r>
            <a:endParaRPr lang="en-US" sz="770" dirty="0"/>
          </a:p>
        </p:txBody>
      </p:sp>
      <p:sp>
        <p:nvSpPr>
          <p:cNvPr id="38" name="Shape 36"/>
          <p:cNvSpPr/>
          <p:nvPr/>
        </p:nvSpPr>
        <p:spPr>
          <a:xfrm>
            <a:off x="8183880" y="3220517"/>
            <a:ext cx="352044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38744" y="3275381"/>
            <a:ext cx="341071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カメラ校正・3D座標変換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502920" y="3930091"/>
            <a:ext cx="1645920" cy="709574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" y="3984955"/>
            <a:ext cx="153619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6429B"/>
                </a:solidFill>
              </a:rPr>
              <a:t>センサ融合</a:t>
            </a:r>
            <a:endParaRPr lang="en-US" sz="770" dirty="0"/>
          </a:p>
        </p:txBody>
      </p:sp>
      <p:sp>
        <p:nvSpPr>
          <p:cNvPr id="42" name="Shape 40"/>
          <p:cNvSpPr/>
          <p:nvPr/>
        </p:nvSpPr>
        <p:spPr>
          <a:xfrm>
            <a:off x="2148840" y="3930091"/>
            <a:ext cx="292608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03704" y="3984955"/>
            <a:ext cx="281635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Camera + LiDAR + Robot Pose</a:t>
            </a:r>
            <a:endParaRPr lang="en-US" sz="770" dirty="0"/>
          </a:p>
        </p:txBody>
      </p:sp>
      <p:sp>
        <p:nvSpPr>
          <p:cNvPr id="44" name="Shape 42"/>
          <p:cNvSpPr/>
          <p:nvPr/>
        </p:nvSpPr>
        <p:spPr>
          <a:xfrm>
            <a:off x="5074920" y="3930091"/>
            <a:ext cx="310896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9784" y="3984955"/>
            <a:ext cx="299923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共通座標系で世界状態を作る</a:t>
            </a:r>
            <a:endParaRPr lang="en-US" sz="770" dirty="0"/>
          </a:p>
        </p:txBody>
      </p:sp>
      <p:sp>
        <p:nvSpPr>
          <p:cNvPr id="46" name="Shape 44"/>
          <p:cNvSpPr/>
          <p:nvPr/>
        </p:nvSpPr>
        <p:spPr>
          <a:xfrm>
            <a:off x="8183880" y="3930091"/>
            <a:ext cx="352044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38744" y="3984955"/>
            <a:ext cx="341071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外部標定・時刻同期</a:t>
            </a:r>
            <a:endParaRPr lang="en-US" sz="770" dirty="0"/>
          </a:p>
        </p:txBody>
      </p:sp>
      <p:sp>
        <p:nvSpPr>
          <p:cNvPr id="48" name="Shape 46"/>
          <p:cNvSpPr/>
          <p:nvPr/>
        </p:nvSpPr>
        <p:spPr>
          <a:xfrm>
            <a:off x="502920" y="4639666"/>
            <a:ext cx="1645920" cy="709574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" y="4694530"/>
            <a:ext cx="153619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6429B"/>
                </a:solidFill>
              </a:rPr>
              <a:t>世界モデル/VLA</a:t>
            </a:r>
            <a:endParaRPr lang="en-US" sz="770" dirty="0"/>
          </a:p>
        </p:txBody>
      </p:sp>
      <p:sp>
        <p:nvSpPr>
          <p:cNvPr id="50" name="Shape 48"/>
          <p:cNvSpPr/>
          <p:nvPr/>
        </p:nvSpPr>
        <p:spPr>
          <a:xfrm>
            <a:off x="2148840" y="4639666"/>
            <a:ext cx="292608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03704" y="4694530"/>
            <a:ext cx="281635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Cosmos / Gemini Robotics / GR00T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5074920" y="4639666"/>
            <a:ext cx="310896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9784" y="4694530"/>
            <a:ext cx="299923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予測・計画・行動へ接続</a:t>
            </a:r>
            <a:endParaRPr lang="en-US" sz="770" dirty="0"/>
          </a:p>
        </p:txBody>
      </p:sp>
      <p:sp>
        <p:nvSpPr>
          <p:cNvPr id="54" name="Shape 52"/>
          <p:cNvSpPr/>
          <p:nvPr/>
        </p:nvSpPr>
        <p:spPr>
          <a:xfrm>
            <a:off x="8183880" y="4639666"/>
            <a:ext cx="3520440" cy="70957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38744" y="4694530"/>
            <a:ext cx="3410712" cy="6181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タスク設計・安全制約</a:t>
            </a:r>
            <a:endParaRPr lang="en-US" sz="770" dirty="0"/>
          </a:p>
        </p:txBody>
      </p:sp>
      <p:sp>
        <p:nvSpPr>
          <p:cNvPr id="56" name="Shape 54"/>
          <p:cNvSpPr/>
          <p:nvPr/>
        </p:nvSpPr>
        <p:spPr>
          <a:xfrm>
            <a:off x="731520" y="5577840"/>
            <a:ext cx="10698480" cy="475488"/>
          </a:xfrm>
          <a:prstGeom prst="roundRect">
            <a:avLst>
              <a:gd name="adj" fmla="val 15385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7824" y="5696712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29B"/>
                </a:solidFill>
              </a:rPr>
              <a:t>まとめ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77824" y="6053328"/>
            <a:ext cx="10405872" cy="-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「物体検出だけ」から、「2D検出を入口に3D・時間・センサ情報を統合し、行動へつなぐ知覚スタック」へ。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https://ai.meta.com/research/sam2/  |  https://vgg-t.github.io/  |  https://www.nvidia.com/en-us/ai/cosmos/  |  https://deepmind.google/models/gemini-robotics/</a:t>
            </a:r>
            <a:endParaRPr lang="en-US" sz="5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進化方向と注目企業・組織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公開情報ベースの「最先端候補」。日本企業は製造現場・ロボット・センサで強みがある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11201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642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25880"/>
            <a:ext cx="2331720" cy="658368"/>
          </a:xfrm>
          <a:prstGeom prst="rect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17904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L1 2D/AI外観検査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2971800" y="14538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6429B"/>
                </a:solidFill>
              </a:rPr>
              <a:t>KEYENCE / OMRON / Cognex / Phoxter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995160" y="144475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3333"/>
                </a:solidFill>
              </a:rPr>
              <a:t>ルール＋AI検査、少量画像学習、現場導入性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502920" y="2203704"/>
            <a:ext cx="11201400" cy="658368"/>
          </a:xfrm>
          <a:prstGeom prst="roundRect">
            <a:avLst>
              <a:gd name="adj" fmla="val 11111"/>
            </a:avLst>
          </a:prstGeom>
          <a:solidFill>
            <a:srgbClr val="F5FAFF"/>
          </a:solidFill>
          <a:ln w="11430">
            <a:solidFill>
              <a:srgbClr val="0642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203704"/>
            <a:ext cx="2331720" cy="658368"/>
          </a:xfrm>
          <a:prstGeom prst="rect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95728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L2 3D計測・画像センサ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2971800" y="23317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6429B"/>
                </a:solidFill>
              </a:rPr>
              <a:t>KEYENCE / Sony Semiconductor / Canon / Nikon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995160" y="2322576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3333"/>
                </a:solidFill>
              </a:rPr>
              <a:t>Depth・3D計測・高性能センサ・光学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502920" y="3081528"/>
            <a:ext cx="11201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6429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081528"/>
            <a:ext cx="2331720" cy="658368"/>
          </a:xfrm>
          <a:prstGeom prst="rect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73552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L3 ロボット/装置制御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2971800" y="32095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6429B"/>
                </a:solidFill>
              </a:rPr>
              <a:t>FANUC / Yaskawa / Mitsubishi Electric / Kawasaki / DENSO WAVE / Mujin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995160" y="320040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3333"/>
                </a:solidFill>
              </a:rPr>
              <a:t>ロボット本体、制御、物流/製造の自動化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02920" y="3959352"/>
            <a:ext cx="11201400" cy="658368"/>
          </a:xfrm>
          <a:prstGeom prst="roundRect">
            <a:avLst>
              <a:gd name="adj" fmla="val 11111"/>
            </a:avLst>
          </a:prstGeom>
          <a:solidFill>
            <a:srgbClr val="F5FAFF"/>
          </a:solidFill>
          <a:ln w="11430">
            <a:solidFill>
              <a:srgbClr val="0642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959352"/>
            <a:ext cx="2331720" cy="658368"/>
          </a:xfrm>
          <a:prstGeom prst="rect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151376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L4 Edge AI・統合基盤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2971800" y="40873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6429B"/>
                </a:solidFill>
              </a:rPr>
              <a:t>NVIDIA / Renesas / Sony / PFN / TIER IV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995160" y="407822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3333"/>
                </a:solidFill>
              </a:rPr>
              <a:t>Edge GPU/AI、組込み、ロボット基盤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502920" y="4837176"/>
            <a:ext cx="11201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6429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837176"/>
            <a:ext cx="2331720" cy="658368"/>
          </a:xfrm>
          <a:prstGeom prst="rect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029200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L5 Foundation/Physical AI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2971800" y="49651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6429B"/>
                </a:solidFill>
              </a:rPr>
              <a:t>NVIDIA / Google DeepMind / Meta / Noetra / PFN / AIST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6995160" y="495604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3333"/>
                </a:solidFill>
              </a:rPr>
              <a:t>世界モデル、VLA、マルチモーダル基盤モデル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685800" y="5815584"/>
            <a:ext cx="10789920" cy="384048"/>
          </a:xfrm>
          <a:prstGeom prst="roundRect">
            <a:avLst>
              <a:gd name="adj" fmla="val 19048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" y="5934456"/>
            <a:ext cx="10497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6429B"/>
                </a:solidFill>
              </a:rPr>
              <a:t>注意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832104" y="6291072"/>
            <a:ext cx="10497312" cy="-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3333"/>
                </a:solidFill>
              </a:rPr>
              <a:t>「最先端」は用途で変わる。検査はKEYENCE/OMRON/Cognex、Physical AI基盤はNVIDIA/Google/Noetra、ロボット実装はFANUC/Yaskawa/Mujin等が注目。</a:t>
            </a:r>
            <a:endParaRPr lang="en-US" sz="770" dirty="0"/>
          </a:p>
        </p:txBody>
      </p:sp>
      <p:sp>
        <p:nvSpPr>
          <p:cNvPr id="36" name="Text 34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https://www.keyence.com/products/vision/vision-sys/vs/  |  https://industrial.omron.eu/en/news-discover/news/omron-enhances-fh-vision-system-with-improved-ai-features  |  https://www.cognex.com/en/products/ai-based-machine-vision-tools  |  https://www.nec.com/en/press/202607/global_20260716_01.html</a:t>
            </a:r>
            <a:endParaRPr lang="en-US" sz="5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Physical AIでは「画像処理」はどこに入るか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画像処理は単独アプリではなく、知覚スタックの一部として上位AIに接続される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325880"/>
            <a:ext cx="88696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472184"/>
            <a:ext cx="292608" cy="292608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540764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54480" y="149047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29B"/>
                </a:solidFill>
              </a:rPr>
              <a:t>画像取得/前処理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0" y="1490472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333333"/>
                </a:solidFill>
              </a:rPr>
              <a:t>補正・照明・ROI・ノイズ除去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66360" y="1938528"/>
            <a:ext cx="256032" cy="182880"/>
          </a:xfrm>
          <a:prstGeom prst="down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167128"/>
            <a:ext cx="88696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313432"/>
            <a:ext cx="292608" cy="292608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38201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54480" y="23317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29B"/>
                </a:solidFill>
              </a:rPr>
              <a:t>2D認識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66160" y="2331720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333333"/>
                </a:solidFill>
              </a:rPr>
              <a:t>物体検出・欠陥検出・セグメンテーション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5166360" y="2779776"/>
            <a:ext cx="256032" cy="182880"/>
          </a:xfrm>
          <a:prstGeom prst="down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008376"/>
            <a:ext cx="8869680" cy="603504"/>
          </a:xfrm>
          <a:prstGeom prst="roundRect">
            <a:avLst>
              <a:gd name="adj" fmla="val 9091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3154680"/>
            <a:ext cx="292608" cy="292608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223260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L3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54480" y="317296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29B"/>
                </a:solidFill>
              </a:rPr>
              <a:t>3D/時間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66160" y="3172968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333333"/>
                </a:solidFill>
              </a:rPr>
              <a:t>Depth・姿勢・点群・追跡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5166360" y="3621024"/>
            <a:ext cx="256032" cy="182880"/>
          </a:xfrm>
          <a:prstGeom prst="down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849624"/>
            <a:ext cx="8869680" cy="603504"/>
          </a:xfrm>
          <a:prstGeom prst="roundRect">
            <a:avLst>
              <a:gd name="adj" fmla="val 9091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3995928"/>
            <a:ext cx="292608" cy="292608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4064508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554480" y="40142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29B"/>
                </a:solidFill>
              </a:rPr>
              <a:t>センサ融合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66160" y="4014216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333333"/>
                </a:solidFill>
              </a:rPr>
              <a:t>LiDAR・Robot Pose・Force・時刻同期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5166360" y="4462272"/>
            <a:ext cx="256032" cy="182880"/>
          </a:xfrm>
          <a:prstGeom prst="down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4690872"/>
            <a:ext cx="8869680" cy="603504"/>
          </a:xfrm>
          <a:prstGeom prst="roundRect">
            <a:avLst>
              <a:gd name="adj" fmla="val 9091"/>
            </a:avLst>
          </a:prstGeom>
          <a:solidFill>
            <a:srgbClr val="EAF7EE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280" y="4837176"/>
            <a:ext cx="292608" cy="292608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905756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554480" y="485546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29B"/>
                </a:solidFill>
              </a:rPr>
              <a:t>World State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566160" y="4855464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333333"/>
                </a:solidFill>
              </a:rPr>
              <a:t>世界状態・予測・行動計画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10058400" y="1554480"/>
            <a:ext cx="1508760" cy="3291840"/>
          </a:xfrm>
          <a:prstGeom prst="roundRect">
            <a:avLst>
              <a:gd name="adj" fmla="val 4848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04704" y="167335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29B"/>
                </a:solidFill>
              </a:rPr>
              <a:t>人の作業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204704" y="2029968"/>
            <a:ext cx="1216152" cy="2724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L1:画像条件調整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L2:教師データ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L3:校正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L4:同期/座標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L5:タスク設計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14400" y="5623560"/>
            <a:ext cx="10652760" cy="420624"/>
          </a:xfrm>
          <a:prstGeom prst="roundRect">
            <a:avLst>
              <a:gd name="adj" fmla="val 17391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0704" y="5742432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429B"/>
                </a:solidFill>
              </a:rPr>
              <a:t>結論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0704" y="6099048"/>
            <a:ext cx="10360152" cy="-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</a:rPr>
              <a:t>従来画像処理は残り、2D認識・3D幾何・センサ融合に接続されてPhysical AIの入口になる。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https://www.nvidia.com/en-us/glossary/generative-physical-ai/  |  https://www.nvidia.com/en-us/ai/cosmos/</a:t>
            </a:r>
            <a:endParaRPr lang="en-US" sz="5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YOLOの位置づけ：使いやすい2D物体検出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Physical AIそのものではないが、物体認識の実用入口として扱いやすい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従来ルールベース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90195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29B"/>
                </a:solidFill>
              </a:rPr>
              <a:t>人が見つけ方を設計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258568"/>
            <a:ext cx="2633472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閾値、エッジ、輪郭、面積条件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明るさや背景が変わると調整が必要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34840" y="1417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YOLO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77640" y="178308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23944" y="190195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29B"/>
                </a:solidFill>
              </a:rPr>
              <a:t>AIが特徴を学習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23944" y="2258568"/>
            <a:ext cx="2633472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BBoxラベル付き画像から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「何がどこにあるか」を直接学ぶ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01000" y="14173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次世代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178308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61504" y="190195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29B"/>
                </a:solidFill>
              </a:rPr>
              <a:t>Open-vocab / 3D / VLA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61504" y="2258568"/>
            <a:ext cx="3182112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テキスト指示・3D姿勢・動画・行動へ拡張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YOLOはL2認識部として残る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2395728"/>
            <a:ext cx="274320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5160" y="2395728"/>
            <a:ext cx="274320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822192"/>
            <a:ext cx="146304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913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項目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40280" y="3822192"/>
            <a:ext cx="457200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91363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ルールベース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12280" y="3822192"/>
            <a:ext cx="4572000" cy="384048"/>
          </a:xfrm>
          <a:prstGeom prst="rect">
            <a:avLst/>
          </a:prstGeom>
          <a:solidFill>
            <a:srgbClr val="0642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91363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YOLO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7240" y="4206240"/>
            <a:ext cx="1463040" cy="344424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4261104"/>
            <a:ext cx="1353312" cy="252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6429B"/>
                </a:solidFill>
              </a:rPr>
              <a:t>前処理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40280" y="4206240"/>
            <a:ext cx="4572000" cy="34442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95144" y="4261104"/>
            <a:ext cx="4462272" cy="252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照明・閾値・形状条件の設計が重要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12280" y="4206240"/>
            <a:ext cx="4572000" cy="34442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67144" y="4261104"/>
            <a:ext cx="4462272" cy="252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Resize/Normalize＋学習データが重要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77240" y="4550664"/>
            <a:ext cx="1463040" cy="344424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" y="4605528"/>
            <a:ext cx="1353312" cy="252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6429B"/>
                </a:solidFill>
              </a:rPr>
              <a:t>強み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40280" y="4550664"/>
            <a:ext cx="4572000" cy="34442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95144" y="4605528"/>
            <a:ext cx="4462272" cy="252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高速・説明可能・少データ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12280" y="4550664"/>
            <a:ext cx="4572000" cy="34442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67144" y="4605528"/>
            <a:ext cx="4462272" cy="252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変動に比較的強い・複数物体を同時検出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77240" y="4895088"/>
            <a:ext cx="1463040" cy="344424"/>
          </a:xfrm>
          <a:prstGeom prst="rect">
            <a:avLst/>
          </a:prstGeom>
          <a:solidFill>
            <a:srgbClr val="F5FA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" y="4949952"/>
            <a:ext cx="1353312" cy="252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6429B"/>
                </a:solidFill>
              </a:rPr>
              <a:t>弱み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40280" y="4895088"/>
            <a:ext cx="4572000" cy="34442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95144" y="4949952"/>
            <a:ext cx="4462272" cy="252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条件変化に弱い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12280" y="4895088"/>
            <a:ext cx="4572000" cy="344424"/>
          </a:xfrm>
          <a:prstGeom prst="rect">
            <a:avLst/>
          </a:prstGeom>
          <a:solidFill>
            <a:srgbClr val="FFFFFF"/>
          </a:solidFill>
          <a:ln w="5715">
            <a:solidFill>
              <a:srgbClr val="06429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67144" y="4949952"/>
            <a:ext cx="4462272" cy="252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学習データ品質・アノテーションに依存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https://arxiv.org/abs/1506.02640  |  https://docs.ultralytics.com/</a:t>
            </a:r>
            <a:endParaRPr lang="en-US" sz="59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YOLOの原理：1回の推論で位置と種類を出す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Two-stage型と異なり、画像全体から直接Bounding Boxとクラスを推定する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94767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29B"/>
                </a:solidFill>
              </a:rPr>
              <a:t>入力画像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9264" y="2304288"/>
            <a:ext cx="121615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</a:rPr>
              <a:t>RGB画像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414016" y="2194560"/>
            <a:ext cx="292608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182880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8104" y="194767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29B"/>
                </a:solidFill>
              </a:rPr>
              <a:t>CNN特徴抽出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18104" y="2304288"/>
            <a:ext cx="121615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</a:rPr>
              <a:t>特徴を自動学習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562856" y="2194560"/>
            <a:ext cx="292608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82880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194767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29B"/>
                </a:solidFill>
              </a:rPr>
              <a:t>BBox＋Class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66944" y="2304288"/>
            <a:ext cx="121615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</a:rPr>
              <a:t>x,y,w,h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</a:rPr>
              <a:t>confidence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711696" y="2194560"/>
            <a:ext cx="292608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9480" y="182880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15784" y="194767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29B"/>
                </a:solidFill>
              </a:rPr>
              <a:t>NMS/End-to-End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15784" y="2304288"/>
            <a:ext cx="121615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</a:rPr>
              <a:t>重複除去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</a:rPr>
              <a:t>近年はNMS-freeへ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8860536" y="2194560"/>
            <a:ext cx="292608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18320" y="182880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64624" y="194767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29B"/>
                </a:solidFill>
              </a:rPr>
              <a:t>検出結果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564624" y="2304288"/>
            <a:ext cx="121615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</a:rPr>
              <a:t>gear 0.95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</a:rPr>
              <a:t>bolt 0.88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77240" y="37490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3867912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YOLOの良さ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3544" y="4224528"/>
            <a:ext cx="5010912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・複数物体の位置と種類を同時に取得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・リアルタイム処理に向く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・Python/CLIで試しやすく、社内PoCに向く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374904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01384" y="386791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29B"/>
                </a:solidFill>
              </a:rPr>
              <a:t>発表での扱い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01384" y="4224528"/>
            <a:ext cx="4645152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YOLOはPhysical AIの説明ではなく、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「従来画像処理からAI物体検出へ変わった実用例」として紹介する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https://arxiv.org/abs/1506.02640  |  https://docs.ultralytics.com/</a:t>
            </a:r>
            <a:endParaRPr lang="en-US" sz="5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社内事例①：外観検査への応用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ルールベースで難しいばらつきを、YOLOで検出対象として学習する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554480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16230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15453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29B"/>
                </a:solidFill>
              </a:rPr>
              <a:t>課題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1938528"/>
            <a:ext cx="208483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目視確認に時間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判定にばらつき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2788920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8575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" y="277977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29B"/>
                </a:solidFill>
              </a:rPr>
              <a:t>対象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3172968"/>
            <a:ext cx="208483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部品 / 欠品 / キズ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外観異常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4023360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0919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" y="401421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29B"/>
                </a:solidFill>
              </a:rPr>
              <a:t>前処理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4407408"/>
            <a:ext cx="208483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画像収集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BBoxアノテーション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明暗・角度差のデータ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5257800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53263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" y="524865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29B"/>
                </a:solidFill>
              </a:rPr>
              <a:t>効果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" y="5641848"/>
            <a:ext cx="208483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見逃し低減 / 速度向上 / データ蓄積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0" y="1417320"/>
            <a:ext cx="77724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3970">
            <a:solidFill>
              <a:srgbClr val="0642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16642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429B"/>
                </a:solidFill>
              </a:rPr>
              <a:t>カメラ → YOLO → OK/NG判定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160520" y="2331720"/>
            <a:ext cx="822960" cy="44577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48556" y="2427732"/>
            <a:ext cx="240030" cy="24003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70248" y="2194560"/>
            <a:ext cx="171450" cy="150876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2423160"/>
            <a:ext cx="384048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2148840"/>
            <a:ext cx="777240" cy="777240"/>
          </a:xfrm>
          <a:prstGeom prst="ellipse">
            <a:avLst/>
          </a:prstGeom>
          <a:solidFill>
            <a:srgbClr val="EAF3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2366467"/>
            <a:ext cx="77724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6429B"/>
                </a:solidFill>
              </a:rPr>
              <a:t>AI</a:t>
            </a:r>
            <a:endParaRPr lang="en-US" sz="1360" dirty="0"/>
          </a:p>
        </p:txBody>
      </p:sp>
      <p:sp>
        <p:nvSpPr>
          <p:cNvPr id="36" name="Shape 34"/>
          <p:cNvSpPr/>
          <p:nvPr/>
        </p:nvSpPr>
        <p:spPr>
          <a:xfrm>
            <a:off x="6629400" y="2423160"/>
            <a:ext cx="384048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7234" y="2420874"/>
            <a:ext cx="272034" cy="272034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2148840"/>
            <a:ext cx="170993" cy="0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2148840"/>
            <a:ext cx="0" cy="170993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98130" y="2148840"/>
            <a:ext cx="170993" cy="0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9123" y="2148840"/>
            <a:ext cx="0" cy="170993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0" y="2902763"/>
            <a:ext cx="170993" cy="0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0" y="2731770"/>
            <a:ext cx="0" cy="170993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98130" y="2902763"/>
            <a:ext cx="170993" cy="0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69123" y="2731770"/>
            <a:ext cx="0" cy="170993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38160" y="2057400"/>
            <a:ext cx="73152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38160" y="193852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OK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098280" y="2057400"/>
            <a:ext cx="73152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98280" y="193852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欠品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058400" y="2057400"/>
            <a:ext cx="73152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D638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0" y="193852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3832"/>
                </a:solidFill>
              </a:rPr>
              <a:t>キズ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0" y="470916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03904" y="4828032"/>
            <a:ext cx="747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29B"/>
                </a:solidFill>
              </a:rPr>
              <a:t>差し替え欄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803904" y="5184648"/>
            <a:ext cx="747979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ここに御社の実画像・検出結果・定量値（検出率、処理時間、NG率推移など）を追加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https://docs.ultralytics.com/  |  https://www.keyence.com/products/vision/vision-sys/vs/</a:t>
            </a:r>
            <a:endParaRPr lang="en-US" sz="5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社内事例②：作業状態・安全確認への応用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現場カメラの画像から、人・工具・状態を認識し、記録・アラートにつなげる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463040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153162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14538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29B"/>
                </a:solidFill>
              </a:rPr>
              <a:t>課題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1847088"/>
            <a:ext cx="22677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作業確認の負荷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異常見落とし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450592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2587752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6563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" y="257860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29B"/>
                </a:solidFill>
              </a:rPr>
              <a:t>対象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2971800"/>
            <a:ext cx="22677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作業状態 / 配置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保護具 / 工具放置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575304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712464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78104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" y="37033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29B"/>
                </a:solidFill>
              </a:rPr>
              <a:t>前処理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4096512"/>
            <a:ext cx="22677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撮影位置の固定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クラス定義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時刻・ライン情報付与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700016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4837176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490575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" y="482803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29B"/>
                </a:solidFill>
              </a:rPr>
              <a:t>効果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" y="5221224"/>
            <a:ext cx="22677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ミス低減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可視化 / トレーサビリティ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0" y="1508760"/>
            <a:ext cx="2057400" cy="33375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86784" y="16276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29B"/>
                </a:solidFill>
              </a:rPr>
              <a:t>1. 現場の撮影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86784" y="1984248"/>
            <a:ext cx="1764792" cy="2770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63640" y="1508760"/>
            <a:ext cx="2057400" cy="3337560"/>
          </a:xfrm>
          <a:prstGeom prst="roundRect">
            <a:avLst>
              <a:gd name="adj" fmla="val 3556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16276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29B"/>
                </a:solidFill>
              </a:rPr>
              <a:t>2. YOLO認識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9944" y="1984248"/>
            <a:ext cx="1764792" cy="2770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686800" y="1508760"/>
            <a:ext cx="2057400" cy="33375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33104" y="16276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29B"/>
                </a:solidFill>
              </a:rPr>
              <a:t>3. アラート/記録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833104" y="1984248"/>
            <a:ext cx="1764792" cy="2770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315968" y="2121408"/>
            <a:ext cx="768096" cy="416052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84802" y="2211019"/>
            <a:ext cx="224028" cy="22402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18381" y="1993392"/>
            <a:ext cx="160020" cy="140818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2834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人・工具・棚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作業エリア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44868" y="2217420"/>
            <a:ext cx="224028" cy="224028"/>
          </a:xfrm>
          <a:prstGeom prst="rect">
            <a:avLst/>
          </a:prstGeom>
          <a:solidFill>
            <a:srgbClr val="FFFFFF"/>
          </a:solidFill>
          <a:ln w="16510">
            <a:solidFill>
              <a:srgbClr val="06429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20840" y="1993392"/>
            <a:ext cx="140818" cy="0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1993392"/>
            <a:ext cx="0" cy="140818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00900" y="1993392"/>
            <a:ext cx="140818" cy="0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41718" y="1993392"/>
            <a:ext cx="0" cy="140818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20840" y="2614270"/>
            <a:ext cx="140818" cy="0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20840" y="2473452"/>
            <a:ext cx="0" cy="140818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00900" y="2614270"/>
            <a:ext cx="140818" cy="0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41718" y="2473452"/>
            <a:ext cx="0" cy="140818"/>
          </a:xfrm>
          <a:prstGeom prst="line">
            <a:avLst/>
          </a:prstGeom>
          <a:noFill/>
          <a:ln w="16510">
            <a:solidFill>
              <a:srgbClr val="06429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2788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429B"/>
                </a:solidFill>
              </a:rPr>
              <a:t>worker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6429B"/>
                </a:solidFill>
              </a:rPr>
              <a:t>helmet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6429B"/>
                </a:solidFill>
              </a:rPr>
              <a:t>tool_box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6429B"/>
                </a:solidFill>
              </a:rPr>
              <a:t>no_gloves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144000" y="1965960"/>
            <a:ext cx="1143000" cy="502920"/>
          </a:xfrm>
          <a:prstGeom prst="rect">
            <a:avLst/>
          </a:prstGeom>
          <a:solidFill>
            <a:srgbClr val="FFF2F2"/>
          </a:solidFill>
          <a:ln w="12700">
            <a:solidFill>
              <a:srgbClr val="D638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0" y="2139696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3832"/>
                </a:solidFill>
              </a:rPr>
              <a:t>アラート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006840" y="274320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89720" y="288036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履歴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グラフ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一覧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897880" y="2816352"/>
            <a:ext cx="274320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21040" y="2816352"/>
            <a:ext cx="274320" cy="256032"/>
          </a:xfrm>
          <a:prstGeom prst="rightArrow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40480" y="5166360"/>
            <a:ext cx="6903720" cy="585216"/>
          </a:xfrm>
          <a:prstGeom prst="roundRect">
            <a:avLst>
              <a:gd name="adj" fmla="val 12500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86784" y="5285232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429B"/>
                </a:solidFill>
              </a:rPr>
              <a:t>差し替え欄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986784" y="5641848"/>
            <a:ext cx="6611112" cy="18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実際の検出対象、アラート条件、記録項目、検出履歴を追記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https://docs.ultralytics.com/  |  https://www.nvidia.com/en-us/industries/robotics/</a:t>
            </a:r>
            <a:endParaRPr lang="en-US" sz="59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まとめ：画像処理は「前処理の設計」から「世界状態の設計」へ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物体検出の進化を、現場で使える技術として捉える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261872"/>
            <a:ext cx="10835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" y="1399032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4676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16152" y="1389888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29B"/>
                </a:solidFill>
              </a:rPr>
              <a:t>分類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1783080"/>
            <a:ext cx="103601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</a:rPr>
              <a:t>画像処理は世代だけでなく、二値化・エッジ・計測・認識などの方式で分類する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85800" y="2048256"/>
            <a:ext cx="10835640" cy="594360"/>
          </a:xfrm>
          <a:prstGeom prst="roundRect">
            <a:avLst>
              <a:gd name="adj" fmla="val 12308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" y="2185416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" y="225399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16152" y="217627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29B"/>
                </a:solidFill>
              </a:rPr>
              <a:t>時代変化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" y="2569464"/>
            <a:ext cx="103601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</a:rPr>
              <a:t>PC性能、GPU、データ、基盤モデルにより「人の設計範囲」が変化した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85800" y="2834640"/>
            <a:ext cx="10835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" y="2971800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30403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16152" y="2962656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29B"/>
                </a:solidFill>
              </a:rPr>
              <a:t>前処理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8408" y="3355848"/>
            <a:ext cx="103601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</a:rPr>
              <a:t>閾値・特徴量設計は減るが、データ設計・校正・同期・座標整合が重要になる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85800" y="3621024"/>
            <a:ext cx="10835640" cy="594360"/>
          </a:xfrm>
          <a:prstGeom prst="roundRect">
            <a:avLst>
              <a:gd name="adj" fmla="val 12308"/>
            </a:avLst>
          </a:prstGeom>
          <a:solidFill>
            <a:srgbClr val="F5FA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" y="3758184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" y="382676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16152" y="3749040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29B"/>
                </a:solidFill>
              </a:rPr>
              <a:t>Physical AI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8408" y="4142232"/>
            <a:ext cx="103601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</a:rPr>
              <a:t>2D検出は残り、3D/時間/センサ融合/世界モデルに接続される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85800" y="4407408"/>
            <a:ext cx="10835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" y="4544568"/>
            <a:ext cx="310896" cy="310896"/>
          </a:xfrm>
          <a:prstGeom prst="ellipse">
            <a:avLst/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" y="461314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16152" y="4535424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29B"/>
                </a:solidFill>
              </a:rPr>
              <a:t>YOLO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8408" y="4928616"/>
            <a:ext cx="103601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</a:rPr>
              <a:t>社内PoCしやすい物体検出として、実例紹介に適している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14400" y="5623560"/>
            <a:ext cx="10378440" cy="530352"/>
          </a:xfrm>
          <a:prstGeom prst="roundRect">
            <a:avLst>
              <a:gd name="adj" fmla="val 13793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788152"/>
            <a:ext cx="10287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画像処理 × 物体検出 × Physical AIで、現場を「見える化」から「動ける化」へ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https://www.phoxter.co.jp/useful/visual-inspection-algorithm  |  https://www.nvidia.com/en-us/glossary/generative-physical-ai/</a:t>
            </a:r>
            <a:endParaRPr lang="en-US" sz="59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355080"/>
            <a:ext cx="1156716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42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参考URL一覧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6949440" cy="0"/>
          </a:xfrm>
          <a:prstGeom prst="line">
            <a:avLst/>
          </a:prstGeom>
          <a:noFill/>
          <a:ln w="15240">
            <a:solidFill>
              <a:srgbClr val="0642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発表内容の根拠・追加調査に使える主要リンク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338560" y="25603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429B"/>
          </a:solidFill>
          <a:ln w="12700">
            <a:solidFill>
              <a:srgbClr val="064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329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0972800" cy="484632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80744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6429B"/>
                </a:solidFill>
              </a:rPr>
              <a:t>画像処理/検査アルゴリズム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2880360" y="1380744"/>
            <a:ext cx="3474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Phoxter｜画像処理アルゴリズムの基礎から応用まで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37960" y="1380744"/>
            <a:ext cx="4800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06429B"/>
                </a:solidFill>
              </a:rPr>
              <a:t>https://www.phoxter.co.jp/useful/visual-inspection-algorithm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594360" y="1901952"/>
            <a:ext cx="10972800" cy="484632"/>
          </a:xfrm>
          <a:prstGeom prst="roundRect">
            <a:avLst>
              <a:gd name="adj" fmla="val 9434"/>
            </a:avLst>
          </a:prstGeom>
          <a:solidFill>
            <a:srgbClr val="F5FA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048256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6429B"/>
                </a:solidFill>
              </a:rPr>
              <a:t>GPUとDLの背景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2880360" y="2048256"/>
            <a:ext cx="3474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NVIDIA CUDA Programming Guide / AlexNet NIPS 2012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37960" y="2048256"/>
            <a:ext cx="4800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06429B"/>
                </a:solidFill>
              </a:rPr>
              <a:t>https://docs.nvidia.com/cuda/cuda-programming-guide/01-introduction/introduction.html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594360" y="2569464"/>
            <a:ext cx="10972800" cy="484632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715768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6429B"/>
                </a:solidFill>
              </a:rPr>
              <a:t>YOLO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2880360" y="2715768"/>
            <a:ext cx="3474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YOLO論文 / Ultralytics Docs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37960" y="2715768"/>
            <a:ext cx="4800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06429B"/>
                </a:solidFill>
              </a:rPr>
              <a:t>https://arxiv.org/abs/1506.02640 / https://docs.ultralytics.com/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594360" y="3236976"/>
            <a:ext cx="10972800" cy="484632"/>
          </a:xfrm>
          <a:prstGeom prst="roundRect">
            <a:avLst>
              <a:gd name="adj" fmla="val 9434"/>
            </a:avLst>
          </a:prstGeom>
          <a:solidFill>
            <a:srgbClr val="F5FA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83280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6429B"/>
                </a:solidFill>
              </a:rPr>
              <a:t>検査AI企業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2880360" y="3383280"/>
            <a:ext cx="3474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KEYENCE VS / OMRON FH AI / Cognex AI Machine Vision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37960" y="3383280"/>
            <a:ext cx="4800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06429B"/>
                </a:solidFill>
              </a:rPr>
              <a:t>https://www.keyence.com/products/vision/vision-sys/vs/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594360" y="3904488"/>
            <a:ext cx="10972800" cy="484632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050792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6429B"/>
                </a:solidFill>
              </a:rPr>
              <a:t>Physical AI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2880360" y="4050792"/>
            <a:ext cx="3474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NVIDIA Physical AI / Cosmos / Isaac GR00T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37960" y="4050792"/>
            <a:ext cx="4800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06429B"/>
                </a:solidFill>
              </a:rPr>
              <a:t>https://www.nvidia.com/en-us/glossary/generative-physical-ai/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594360" y="4572000"/>
            <a:ext cx="10972800" cy="484632"/>
          </a:xfrm>
          <a:prstGeom prst="roundRect">
            <a:avLst>
              <a:gd name="adj" fmla="val 9434"/>
            </a:avLst>
          </a:prstGeom>
          <a:solidFill>
            <a:srgbClr val="F5FA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718304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6429B"/>
                </a:solidFill>
              </a:rPr>
              <a:t>日本の基盤モデル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2880360" y="4718304"/>
            <a:ext cx="3474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Noetra / NECプレスリリース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37960" y="4718304"/>
            <a:ext cx="4800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06429B"/>
                </a:solidFill>
              </a:rPr>
              <a:t>https://www.nec.com/en/press/202607/global_20260716_01.html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94360" y="5239512"/>
            <a:ext cx="10972800" cy="484632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385816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6429B"/>
                </a:solidFill>
              </a:rPr>
              <a:t>ロボティクス基盤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2880360" y="5385816"/>
            <a:ext cx="3474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Google DeepMind Gemini Robotics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537960" y="5385816"/>
            <a:ext cx="4800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06429B"/>
                </a:solidFill>
              </a:rPr>
              <a:t>https://deepmind.google/models/gemini-robotics/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685800" y="603504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7487"/>
                </a:solidFill>
              </a:rPr>
              <a:t>補足：公開情報ベースの整理です。製品採用時は、実環境評価・ライセンス・保守体制を別途確認してください。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7472" y="6428232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06429B"/>
                </a:solidFill>
              </a:rPr>
              <a:t>参考URL: https://www.phoxter.co.jp/useful/visual-inspection-algorithm</a:t>
            </a:r>
            <a:endParaRPr lang="en-US" sz="5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画像処理の進化とフィジカルAI時代の役割</dc:title>
  <dc:subject>画像処理の進化とフィジカルAI時代の役割</dc:subject>
  <dc:creator>OpenAI</dc:creator>
  <cp:lastModifiedBy>OpenAI</cp:lastModifiedBy>
  <cp:revision>1</cp:revision>
  <dcterms:created xsi:type="dcterms:W3CDTF">2026-08-24T23:14:12Z</dcterms:created>
  <dcterms:modified xsi:type="dcterms:W3CDTF">2026-08-24T23:14:12Z</dcterms:modified>
</cp:coreProperties>
</file>