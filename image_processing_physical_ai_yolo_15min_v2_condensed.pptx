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導入。今回の軸はYOLO単体ではなく、画像処理が画像からどのような情報を取り出し、Physical AI時代にどう広がるかである。最後に身近な実用例としてYOLOを扱う。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15分の流れを提示。前半は画像処理の基礎と進化、後半はYOLOと実例。Physical AIの説明が主役ではなく、画像処理がどう重要かを整理する。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画像処理の最小単位は画素。画素値の配列から、位置、面積、長さ、個数、速度といった現場で使える量を取り出すことが本質である。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二値化、ノイズ除去、輪郭抽出、ラベリングは製造業で今もよく使われる。AIに置き換わるのではなく、条件を作れるところでは最短の解になる。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物体検出の進化を、前処理の変化として説明する。従来は二値化、閾値、特徴量を人が作っていた。深層学習では特徴抽出はモデル内部に入り、人の仕事は教師データ設計へ移る。Physical AIでは画像を見やすくする前処理より、カメラ・Depth・LiDAR・ロボット座標を物理空間で一致させる前処理が重要になる。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AIは、現実世界を知覚し、推論し、行動するもの。画像処理はその入口として残るが、2Dだけではなく3D、時間、他センサ情報と統合され、世界状態を作る役割になる。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実用ではセンサー融合が重要。カメラは意味情報に強く、DepthやLiDARは距離や形状に強い。さらにロボットのエンコーダや力覚と統合して、世界状態を作る。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AIの知覚レイヤごとに日本で活躍が期待される企業・組織を整理した。L1は既存の画像検査・AIビジョン、L2は動画解析、L3は3Dセンサ・3Dビジョン、L4は自動運転由来のセンサ融合、L5はWorld ModelやVLA、ロボット制御基盤。公開情報に基づく整理であり、各社の優劣や自社での採用を示すものではない。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YOLOはPhysical AIそのものではない。2D物体検出を非常に使いやすくし、現場へのPoCをしやすくした技術として説明する。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YOLOは物体候補生成と分類を分けるのではなく、画像全体を一回の推論で見て、Bounding Box、信頼度、クラスを同時に予測する。これが高速性の理由。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YOLOはばらつきがある条件で物体の種類と位置を同時に出せるため、PoCに向く。ただしデータ準備、評価、ライセンス、誤検出時の処理設計は必要。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社内事例1。外観検査や欠品検出を想定したテンプレート。実際の対象名、写真、検出結果、時間短縮率や見逃し低減などに差し替える。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社内事例2。作業状態や安全確認を想定。人物、工具、保護具、立入エリアなどを検出し、アラートや履歴として残すと、可視化とトレーサビリティにつながる。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締め。画像処理は現場を数値化する入口であり、AIや装置制御に接続する第一歩。身近な目視作業や異常検知からPoCを始める提案で終わる。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画像処理の歴史とこれから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画像処理が「何を測り、どう物体を捉え、Physical AI時代にどう拡張されるか」を整理する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</a:t>
            </a:r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3657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15分発表 / 社内勉強会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4114800" cy="2651760"/>
          </a:xfrm>
          <a:prstGeom prst="roundRect">
            <a:avLst>
              <a:gd name="adj" fmla="val 4138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2395728"/>
            <a:ext cx="3474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本日のメッセージ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816352"/>
            <a:ext cx="352044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・画像処理は、画像から物理量・状態量を取り出す技術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・二値化・輪郭抽出などの従来処理は今でも重要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・Physical AIでは、2D認識・3D幾何・センサ融合へ拡張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・その実用例としてYOLOと社内事例を紹介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874520"/>
            <a:ext cx="1005840" cy="1143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0" y="180136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0" y="180136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9475" y="2157984"/>
            <a:ext cx="583387" cy="381853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965546" y="2075688"/>
            <a:ext cx="185623" cy="95463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61009" y="2208276"/>
            <a:ext cx="180320" cy="180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650992" y="2688336"/>
            <a:ext cx="859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20840" y="2450592"/>
            <a:ext cx="36576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269480" y="1874520"/>
            <a:ext cx="1005840" cy="1143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78040" y="180136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78040" y="180136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51115" y="207568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551115" y="220827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551115" y="234086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683703" y="207568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683703" y="220827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683703" y="234086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816291" y="207568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816291" y="220827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816291" y="234086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7342632" y="2688336"/>
            <a:ext cx="859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特徴抽出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12480" y="2450592"/>
            <a:ext cx="36576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961120" y="1874520"/>
            <a:ext cx="1005840" cy="1143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8869680" y="180136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869680" y="180136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9242755" y="2075688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242755" y="2075688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656430" y="2075688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773107" y="2075688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242755" y="2489363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242755" y="2606040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656430" y="2606040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773107" y="2489363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444289" y="2277222"/>
            <a:ext cx="132588" cy="132588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9034272" y="2688336"/>
            <a:ext cx="859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物体検出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0104120" y="2450592"/>
            <a:ext cx="36576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652760" y="1874520"/>
            <a:ext cx="1005840" cy="114300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10561320" y="180136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561320" y="180136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10960913" y="2473452"/>
            <a:ext cx="185623" cy="79553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1051073" y="2473452"/>
            <a:ext cx="106070" cy="-159106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1019252" y="2436327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11157143" y="2314346"/>
            <a:ext cx="148499" cy="-79553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11130625" y="2277222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1305642" y="2234794"/>
            <a:ext cx="68946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1273820" y="2197669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1374587" y="2351471"/>
            <a:ext cx="63642" cy="-2651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1374587" y="2351471"/>
            <a:ext cx="58339" cy="4242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0725912" y="2688336"/>
            <a:ext cx="8595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行動へ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486400" y="3429000"/>
            <a:ext cx="5943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 → 物体検出 → 世界状態 → 判断・制御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5486400" y="4069080"/>
            <a:ext cx="60350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5715000" y="4224528"/>
            <a:ext cx="8229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ゴール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446520" y="4160520"/>
            <a:ext cx="47548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「YOLOすごい」で終わらず、画像処理が現場改善のどこに効くかを考える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https://docs.ultralytics.com/  |  https://www.nvidia.com/en-us/glossary/generative-physical-ai/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15分発表の流れ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前半で画像処理の役割を整理し、後半でYOLOと社内事例につなげる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2</a:t>
            </a:r>
          </a:p>
        </p:txBody>
      </p:sp>
      <p:sp>
        <p:nvSpPr>
          <p:cNvPr id="7" name="Shape 5"/>
          <p:cNvSpPr/>
          <p:nvPr/>
        </p:nvSpPr>
        <p:spPr>
          <a:xfrm>
            <a:off x="594360" y="1554480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77240" y="1673352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673352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645920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画像処理とは何か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234440" y="1892808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画像から物理量・状態量を取り出す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313432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77240" y="2432304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2432304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404872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物体抽出の基本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234440" y="2651760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二値化・輪郭抽出・ラベリング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4360" y="3072384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77240" y="3191256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3191256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163824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技術の進化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234440" y="3410712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ルールベース → 特徴量 → 深層学習 → 3D/融合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4360" y="3831336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77240" y="3950208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77240" y="3950208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922776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AI時代の画像処理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34440" y="4169664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従来処理は残り、世界状態の理解へ拡張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4360" y="4590288"/>
            <a:ext cx="5577840" cy="576072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77240" y="4709160"/>
            <a:ext cx="329184" cy="329184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77240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4681728"/>
            <a:ext cx="44805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YOLOと社内事例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234440" y="4928616"/>
            <a:ext cx="448056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B647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使いやすい物体検出の実用例として紹介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720840" y="1508760"/>
            <a:ext cx="4526280" cy="2880360"/>
          </a:xfrm>
          <a:prstGeom prst="roundRect">
            <a:avLst>
              <a:gd name="adj" fmla="val 3810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178040" y="19202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7086600" y="184708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7086600" y="184708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472477" y="2203704"/>
            <a:ext cx="583387" cy="381853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7578547" y="2121408"/>
            <a:ext cx="185623" cy="95463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674011" y="2253996"/>
            <a:ext cx="180320" cy="180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251192" y="2642616"/>
            <a:ext cx="9052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66760" y="2450592"/>
            <a:ext cx="45720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006840" y="19202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8915400" y="184708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915400" y="184708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317187" y="2185050"/>
            <a:ext cx="371246" cy="37124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502811" y="2185050"/>
            <a:ext cx="0" cy="371246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9396740" y="2269907"/>
            <a:ext cx="37125" cy="3712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9449775" y="2413102"/>
            <a:ext cx="37125" cy="3712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577060" y="2296424"/>
            <a:ext cx="37125" cy="3712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619488" y="2429012"/>
            <a:ext cx="37125" cy="37125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079992" y="2642616"/>
            <a:ext cx="9052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理解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195560" y="2450592"/>
            <a:ext cx="45720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0835640" y="1920240"/>
            <a:ext cx="10515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10744200" y="184708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10744200" y="184708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11156594" y="2519172"/>
            <a:ext cx="185623" cy="79553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1246754" y="2519172"/>
            <a:ext cx="106070" cy="-159106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1214933" y="2482047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1352825" y="2360066"/>
            <a:ext cx="148499" cy="-79553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1326307" y="2322942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11501323" y="2280514"/>
            <a:ext cx="68946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1469502" y="2243389"/>
            <a:ext cx="84856" cy="8485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11570269" y="2397191"/>
            <a:ext cx="63642" cy="-2651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11570269" y="2397191"/>
            <a:ext cx="58339" cy="4242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0908792" y="2642616"/>
            <a:ext cx="90525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713232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本日の到達点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7132320" y="3730752"/>
            <a:ext cx="370332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画像処理を「AIに置き換わる技術」ではなく、現場を定量化してAIにつなぐ入口として捉える</a:t>
            </a:r>
            <a:endParaRPr lang="en-US" sz="1320" dirty="0"/>
          </a:p>
        </p:txBody>
      </p:sp>
      <p:sp>
        <p:nvSpPr>
          <p:cNvPr id="67" name="Shape 65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https://docs.ultralytics.com/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画像処理は何を扱うのか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画像は「画素位置」と「画素値」の集合。そこから現場で使える量に変換する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3</a:t>
            </a:r>
          </a:p>
        </p:txBody>
      </p:sp>
      <p:sp>
        <p:nvSpPr>
          <p:cNvPr id="7" name="Shape 5"/>
          <p:cNvSpPr/>
          <p:nvPr/>
        </p:nvSpPr>
        <p:spPr>
          <a:xfrm>
            <a:off x="685800" y="1600200"/>
            <a:ext cx="3108960" cy="3474720"/>
          </a:xfrm>
          <a:prstGeom prst="roundRect">
            <a:avLst>
              <a:gd name="adj" fmla="val 352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783080"/>
            <a:ext cx="2560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入力：画像データ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43000" y="23317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143000" y="261747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143000" y="29032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428750" y="23317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428750" y="261747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428750" y="29032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714500" y="23317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714500" y="261747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714500" y="2903220"/>
            <a:ext cx="251460" cy="25146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240280" y="2240280"/>
            <a:ext cx="11887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画素位置 (u, v)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40280" y="2606040"/>
            <a:ext cx="12801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画素値：輝度 / RGB / HSV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カメラから直接得られるのは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「数値の配列」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14800" y="3246120"/>
            <a:ext cx="96012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349240" y="1554480"/>
            <a:ext cx="182880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53212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806440" y="2423160"/>
            <a:ext cx="160934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806440" y="2423160"/>
            <a:ext cx="0" cy="16093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77026" y="2423160"/>
            <a:ext cx="160934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537960" y="2423160"/>
            <a:ext cx="0" cy="16093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806440" y="2993746"/>
            <a:ext cx="0" cy="16093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806440" y="3154680"/>
            <a:ext cx="160934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377026" y="3154680"/>
            <a:ext cx="160934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537960" y="2993746"/>
            <a:ext cx="0" cy="16093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084418" y="2701138"/>
            <a:ext cx="182880" cy="18288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532120" y="3337560"/>
            <a:ext cx="14630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抽出・補正・計測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452360" y="3246120"/>
            <a:ext cx="96012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8732520" y="1600200"/>
            <a:ext cx="2743200" cy="3474720"/>
          </a:xfrm>
          <a:prstGeom prst="roundRect">
            <a:avLst>
              <a:gd name="adj" fmla="val 4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915400" y="1783080"/>
            <a:ext cx="2377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出力：物理量・状態量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9006840" y="2331720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006840" y="2359152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149840" y="2331720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0149840" y="2359152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面積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9006840" y="2770632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006840" y="2798064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長さ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10149840" y="2770632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10149840" y="2798064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角度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9006840" y="3209544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006840" y="3236976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個数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149840" y="3209544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149840" y="3236976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006840" y="3648456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006840" y="367588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欠陥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10149840" y="3648456"/>
            <a:ext cx="960120" cy="292608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10149840" y="3675888"/>
            <a:ext cx="96012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姿勢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822960" y="5532120"/>
            <a:ext cx="10789920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1005840" y="5614416"/>
            <a:ext cx="10424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ポイント：画像処理は「画像を見る」ではなく、画像から現場で使える量を取り出す技術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https://docs.opencv.org/4.x/d4/dee/tutorial_optical_flow.html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物体抽出の基本：二値化・輪郭・ラベリング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昔から主流で、今でも固定条件の検査では非常に強い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4</a:t>
            </a:r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40003" y="2112264"/>
            <a:ext cx="583387" cy="381853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046074" y="2029968"/>
            <a:ext cx="185623" cy="95463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141537" y="2162556"/>
            <a:ext cx="180320" cy="180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751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元画像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920240" y="2404872"/>
            <a:ext cx="576072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60604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51460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51460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51683" y="202996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951683" y="216255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951683" y="229514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084271" y="202996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084271" y="216255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084271" y="229514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216859" y="2029968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216859" y="2162556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216859" y="2295144"/>
            <a:ext cx="116677" cy="116677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67919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931920" y="2404872"/>
            <a:ext cx="576072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61772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52628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52628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58827" y="2125431"/>
            <a:ext cx="328818" cy="328818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164897" y="2231502"/>
            <a:ext cx="116677" cy="11667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395600" y="2271278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339679" y="2406284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204673" y="2462205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069668" y="2406284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13747" y="2271278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069668" y="2136273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204673" y="2080351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339679" y="2136273"/>
            <a:ext cx="37125" cy="37125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69087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ノイズ除去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943600" y="2404872"/>
            <a:ext cx="576072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62940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53796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53796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975043" y="2029968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6975043" y="2029968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388718" y="2029968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505395" y="2029968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975043" y="2443643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975043" y="2560320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388718" y="2560320"/>
            <a:ext cx="116677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505395" y="2443643"/>
            <a:ext cx="0" cy="116677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176577" y="2231502"/>
            <a:ext cx="132588" cy="132588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70255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輪郭抽出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7955280" y="2404872"/>
            <a:ext cx="576072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8641080" y="1828800"/>
            <a:ext cx="123444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54964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854964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039758" y="2374697"/>
            <a:ext cx="63642" cy="132588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172346" y="2268626"/>
            <a:ext cx="63642" cy="238658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9304934" y="2162556"/>
            <a:ext cx="63642" cy="344729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9039758" y="2480767"/>
            <a:ext cx="403068" cy="-344729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714232" y="2642616"/>
            <a:ext cx="108813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物体として計測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640080" y="3657600"/>
            <a:ext cx="5212080" cy="1554480"/>
          </a:xfrm>
          <a:prstGeom prst="roundRect">
            <a:avLst>
              <a:gd name="adj" fmla="val 705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68680" y="3822192"/>
            <a:ext cx="4754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従来処理が得意な条件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68680" y="4187952"/>
            <a:ext cx="4572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・カメラ・照明・背景を固定できる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・対象物の形状や色が決まっている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・高速・低コスト・説明可能な処理が必要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6309360" y="365760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6537960" y="3822192"/>
            <a:ext cx="46634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なぜ今でも使われるか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6537960" y="4187952"/>
            <a:ext cx="45720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・学習データが不要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・画素単位の精密な計測に強い
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・不良解析・装置条件の説明がしやすい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914400" y="5532120"/>
            <a:ext cx="103327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1097280" y="5605272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古い技術ではなく、「条件を作れる現場」では今も主力の画像処理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https://docs.opencv.org/4.x/d7/d4d/tutorial_py_thresholding.html  |  https://docs.opencv.org/4.x/d4/d73/tutorial_py_contours_begin.html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物体検出技術の進化と「人が行う前処理」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前処理は消えるのではなく、特徴設計からデータ設計・物理空間整合へ変わる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5</a:t>
            </a:r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105156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29768" y="1581912"/>
            <a:ext cx="10149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世代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463040" y="1508760"/>
            <a:ext cx="187452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81328" y="1581912"/>
            <a:ext cx="183794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特徴的な処理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337560" y="1508760"/>
            <a:ext cx="288036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355848" y="1581912"/>
            <a:ext cx="284378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人が行う必要がある前処理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217920" y="1508760"/>
            <a:ext cx="30632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36208" y="1581912"/>
            <a:ext cx="302666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次世代でなくなるか？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9281160" y="1508760"/>
            <a:ext cx="205740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299448" y="1581912"/>
            <a:ext cx="2020824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主な使い所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11480" y="1892808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48056" y="1947672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画素値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ルールベース</a:t>
            </a:r>
            <a:endParaRPr lang="en-US" sz="890" dirty="0"/>
          </a:p>
        </p:txBody>
      </p:sp>
      <p:sp>
        <p:nvSpPr>
          <p:cNvPr id="19" name="Shape 17"/>
          <p:cNvSpPr/>
          <p:nvPr/>
        </p:nvSpPr>
        <p:spPr>
          <a:xfrm>
            <a:off x="1463040" y="1892808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499616" y="1947672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 / 色抽出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Edge / Morphology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輪郭・ラベリング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3337560" y="1892808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374136" y="1947672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照明設計、ROI設定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閾値、平滑化条件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面積・円形度などの判定条件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217920" y="1892808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254496" y="1947672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なくならない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固定条件では今も主力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9281160" y="1892808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17736" y="1947672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有無判定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寸法・個数計測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411480" y="2551176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48056" y="2606040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ベース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1463040" y="2551176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499616" y="2606040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SIFT / HOG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Template / SVM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Sliding Window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3337560" y="2551176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374136" y="2606040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特徴量の選択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スケール・方向正規化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窓サイズ・分類器条件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6217920" y="2551176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254496" y="2606040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一部残る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特定用途で有効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9281160" y="2551176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317736" y="2606040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既知形状認識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ルールとの併用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411480" y="3209544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48056" y="3264408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CNN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Two-stage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1463040" y="3209544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499616" y="3264408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CNN特徴抽出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Region Proposal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候補領域→分類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3337560" y="3209544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374136" y="3264408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Resize / Normalize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教師画像・BBox作成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 Augmentation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217920" y="3209544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6254496" y="3264408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前処理は減る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候補生成も学習化</a:t>
            </a:r>
            <a:endParaRPr lang="en-US" sz="740" dirty="0"/>
          </a:p>
        </p:txBody>
      </p:sp>
      <p:sp>
        <p:nvSpPr>
          <p:cNvPr id="45" name="Shape 43"/>
          <p:cNvSpPr/>
          <p:nvPr/>
        </p:nvSpPr>
        <p:spPr>
          <a:xfrm>
            <a:off x="9281160" y="3209544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9317736" y="3264408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高精度検出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精密な認識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411480" y="3867912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48056" y="3922776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One-stage</a:t>
            </a:r>
            <a:endParaRPr lang="en-US" sz="890" dirty="0"/>
          </a:p>
        </p:txBody>
      </p:sp>
      <p:sp>
        <p:nvSpPr>
          <p:cNvPr id="49" name="Shape 47"/>
          <p:cNvSpPr/>
          <p:nvPr/>
        </p:nvSpPr>
        <p:spPr>
          <a:xfrm>
            <a:off x="1463040" y="3867912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499616" y="3922776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Letterbox / Normalize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1回の推論で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位置・種類・信頼度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3337560" y="3867912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374136" y="3922776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検出クラス定義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BBoxアノテーション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ばらつきを含むDataset</a:t>
            </a:r>
            <a:endParaRPr lang="en-US" sz="740" dirty="0"/>
          </a:p>
        </p:txBody>
      </p:sp>
      <p:sp>
        <p:nvSpPr>
          <p:cNvPr id="53" name="Shape 51"/>
          <p:cNvSpPr/>
          <p:nvPr/>
        </p:nvSpPr>
        <p:spPr>
          <a:xfrm>
            <a:off x="6217920" y="3867912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6254496" y="3922776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残る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PoCで使いやすい</a:t>
            </a:r>
            <a:endParaRPr lang="en-US" sz="740" dirty="0"/>
          </a:p>
        </p:txBody>
      </p:sp>
      <p:sp>
        <p:nvSpPr>
          <p:cNvPr id="55" name="Shape 53"/>
          <p:cNvSpPr/>
          <p:nvPr/>
        </p:nvSpPr>
        <p:spPr>
          <a:xfrm>
            <a:off x="9281160" y="3867912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9317736" y="3922776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複数物体検出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現場カメラ連携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411480" y="4526280"/>
            <a:ext cx="10515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448056" y="4581144"/>
            <a:ext cx="9784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</a:t>
            </a:r>
            <a:endParaRPr lang="en-US" sz="890" dirty="0"/>
          </a:p>
          <a:p>
            <a:pPr algn="ctr" indent="0" marL="0">
              <a:buNone/>
            </a:pPr>
            <a:r>
              <a:rPr lang="en-US" sz="89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3D/融合</a:t>
            </a:r>
            <a:endParaRPr lang="en-US" sz="890" dirty="0"/>
          </a:p>
        </p:txBody>
      </p:sp>
      <p:sp>
        <p:nvSpPr>
          <p:cNvPr id="59" name="Shape 57"/>
          <p:cNvSpPr/>
          <p:nvPr/>
        </p:nvSpPr>
        <p:spPr>
          <a:xfrm>
            <a:off x="1463040" y="4526280"/>
            <a:ext cx="187452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499616" y="4581144"/>
            <a:ext cx="180136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Depth / Point Cloud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Tracking / Sensor Fusion</a:t>
            </a:r>
            <a:endParaRPr lang="en-US" sz="840" dirty="0"/>
          </a:p>
          <a:p>
            <a:pPr algn="l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World State</a:t>
            </a:r>
            <a:endParaRPr lang="en-US" sz="840" dirty="0"/>
          </a:p>
        </p:txBody>
      </p:sp>
      <p:sp>
        <p:nvSpPr>
          <p:cNvPr id="61" name="Shape 59"/>
          <p:cNvSpPr/>
          <p:nvPr/>
        </p:nvSpPr>
        <p:spPr>
          <a:xfrm>
            <a:off x="3337560" y="4526280"/>
            <a:ext cx="288036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374136" y="4581144"/>
            <a:ext cx="280720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カメラ校正、外部標定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時刻同期、座標系統一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Depth-LiDAR-Robot整合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6217920" y="4526280"/>
            <a:ext cx="306324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6254496" y="4581144"/>
            <a:ext cx="299008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むしろ重要化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物理空間整合へ移る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9281160" y="4526280"/>
            <a:ext cx="2057400" cy="658368"/>
          </a:xfrm>
          <a:prstGeom prst="roundRect">
            <a:avLst>
              <a:gd name="adj" fmla="val 16667"/>
            </a:avLst>
          </a:prstGeom>
          <a:solidFill>
            <a:srgbClr val="F6FAFF"/>
          </a:solidFill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9317736" y="4581144"/>
            <a:ext cx="1984248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3D把持</a:t>
            </a:r>
            <a:endParaRPr lang="en-US" sz="740" dirty="0"/>
          </a:p>
          <a:p>
            <a:pPr algn="l" indent="0" marL="0">
              <a:buNone/>
            </a:pPr>
            <a:r>
              <a:rPr lang="en-US" sz="7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予測・制御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914400" y="544068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1005840" y="5513832"/>
            <a:ext cx="2880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人が特徴を作る</a:t>
            </a:r>
            <a:endParaRPr lang="en-US" sz="1030" dirty="0"/>
          </a:p>
        </p:txBody>
      </p:sp>
      <p:sp>
        <p:nvSpPr>
          <p:cNvPr id="69" name="Text 67"/>
          <p:cNvSpPr/>
          <p:nvPr/>
        </p:nvSpPr>
        <p:spPr>
          <a:xfrm>
            <a:off x="1005840" y="5733288"/>
            <a:ext cx="2880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二値化・特徴量・閾値</a:t>
            </a:r>
            <a:endParaRPr lang="en-US" sz="840" dirty="0"/>
          </a:p>
        </p:txBody>
      </p:sp>
      <p:sp>
        <p:nvSpPr>
          <p:cNvPr id="70" name="Shape 68"/>
          <p:cNvSpPr/>
          <p:nvPr/>
        </p:nvSpPr>
        <p:spPr>
          <a:xfrm>
            <a:off x="4069080" y="5696712"/>
            <a:ext cx="4114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4663440" y="544068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F6FAFF"/>
          </a:solidFill>
          <a:ln w="1270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4754880" y="5513832"/>
            <a:ext cx="2880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人がデータを作る</a:t>
            </a:r>
            <a:endParaRPr lang="en-US" sz="1030" dirty="0"/>
          </a:p>
        </p:txBody>
      </p:sp>
      <p:sp>
        <p:nvSpPr>
          <p:cNvPr id="73" name="Text 71"/>
          <p:cNvSpPr/>
          <p:nvPr/>
        </p:nvSpPr>
        <p:spPr>
          <a:xfrm>
            <a:off x="4754880" y="5733288"/>
            <a:ext cx="2880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教師画像・ラベル・評価</a:t>
            </a:r>
            <a:endParaRPr lang="en-US" sz="840" dirty="0"/>
          </a:p>
        </p:txBody>
      </p:sp>
      <p:sp>
        <p:nvSpPr>
          <p:cNvPr id="74" name="Shape 72"/>
          <p:cNvSpPr/>
          <p:nvPr/>
        </p:nvSpPr>
        <p:spPr>
          <a:xfrm>
            <a:off x="7818120" y="5696712"/>
            <a:ext cx="4114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8412480" y="5440680"/>
            <a:ext cx="3063240" cy="502920"/>
          </a:xfrm>
          <a:prstGeom prst="roundRect">
            <a:avLst>
              <a:gd name="adj" fmla="val 21818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503920" y="5513832"/>
            <a:ext cx="28803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人が物理空間を合わせる</a:t>
            </a:r>
            <a:endParaRPr lang="en-US" sz="1030" dirty="0"/>
          </a:p>
        </p:txBody>
      </p:sp>
      <p:sp>
        <p:nvSpPr>
          <p:cNvPr id="77" name="Text 75"/>
          <p:cNvSpPr/>
          <p:nvPr/>
        </p:nvSpPr>
        <p:spPr>
          <a:xfrm>
            <a:off x="8503920" y="5733288"/>
            <a:ext cx="288036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校正・同期・座標変換</a:t>
            </a:r>
            <a:endParaRPr lang="en-US" sz="840" dirty="0"/>
          </a:p>
        </p:txBody>
      </p:sp>
      <p:sp>
        <p:nvSpPr>
          <p:cNvPr id="78" name="Shape 76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https://arxiv.org/abs/1506.02640  |  https://arxiv.org/abs/2005.12872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AI時代に画像処理はどうなるか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置き換わるのではなく、知覚スタックの一部として拡張される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6</a:t>
            </a:r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従来の画像処理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83080" y="2459736"/>
            <a:ext cx="704088" cy="46085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911096" y="2377440"/>
            <a:ext cx="224028" cy="115214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026310" y="2537460"/>
            <a:ext cx="217627" cy="217627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103120" y="3063240"/>
            <a:ext cx="0" cy="365760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764792" y="3566160"/>
            <a:ext cx="150876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764792" y="3566160"/>
            <a:ext cx="0" cy="150876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299716" y="3566160"/>
            <a:ext cx="150876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450592" y="3566160"/>
            <a:ext cx="0" cy="150876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764792" y="4101084"/>
            <a:ext cx="0" cy="150876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764792" y="4251960"/>
            <a:ext cx="150876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299716" y="4251960"/>
            <a:ext cx="150876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450592" y="4101084"/>
            <a:ext cx="0" cy="150876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025396" y="3826764"/>
            <a:ext cx="171450" cy="171450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97280" y="4434840"/>
            <a:ext cx="219456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画像内の物体を抽出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位置・面積・個数を測る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1600200"/>
            <a:ext cx="3246120" cy="352044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66344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Physical AIの知覚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846320" y="2459736"/>
            <a:ext cx="452628" cy="296266"/>
          </a:xfrm>
          <a:prstGeom prst="roundRect">
            <a:avLst>
              <a:gd name="adj" fmla="val 37037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928616" y="2377440"/>
            <a:ext cx="144018" cy="74066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002682" y="2480310"/>
            <a:ext cx="139903" cy="13990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737860" y="2491740"/>
            <a:ext cx="128016" cy="12801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879592" y="2491740"/>
            <a:ext cx="128016" cy="12801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806440" y="2359152"/>
            <a:ext cx="128016" cy="12801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563106" y="2708910"/>
            <a:ext cx="176022" cy="75438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648602" y="2708910"/>
            <a:ext cx="100584" cy="-150876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618427" y="2673706"/>
            <a:ext cx="80467" cy="80467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749186" y="2558034"/>
            <a:ext cx="140818" cy="-75438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724040" y="2522830"/>
            <a:ext cx="80467" cy="80467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890004" y="2482596"/>
            <a:ext cx="65380" cy="110642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859829" y="2447392"/>
            <a:ext cx="80467" cy="80467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6955384" y="2593238"/>
            <a:ext cx="60350" cy="-25146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955384" y="2593238"/>
            <a:ext cx="55321" cy="40234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6080760" y="3063240"/>
            <a:ext cx="0" cy="365760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074920" y="3611880"/>
            <a:ext cx="2011680" cy="731520"/>
          </a:xfrm>
          <a:prstGeom prst="roundRect">
            <a:avLst>
              <a:gd name="adj" fmla="val 15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074920" y="3685032"/>
            <a:ext cx="20116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World State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世界状態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892040" y="4507992"/>
            <a:ext cx="2423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何が・どこに・どう動き・どう操作できるか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366760" y="1600200"/>
            <a:ext cx="3200400" cy="3520440"/>
          </a:xfrm>
          <a:prstGeom prst="roundRect">
            <a:avLst>
              <a:gd name="adj" fmla="val 342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549640" y="1810512"/>
            <a:ext cx="2834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686800" y="2423160"/>
            <a:ext cx="256032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・2D物体検出は残る
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・Depth・3D・動画に拡張
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・LiDAR・力覚・ロボット状態と融合
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・認識から予測・行動へ接続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914400" y="5532120"/>
            <a:ext cx="103327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1097280" y="5605272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画像処理は「物体を探す技術」から「実世界の状態をつくる知覚技術」へ広がる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https://www.nvidia.com/en-us/glossary/generative-physical-ai/  |  https://www.nvidia.com/en-us/ai/cosmos/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004096"/>
                </a:solidFill>
                <a:latin typeface="Yu Gothic"/>
              </a:defRPr>
            </a:pPr>
            <a:r>
              <a:t>進化方向：2Dは残り、3D化し、センサ融合へ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143000"/>
            <a:ext cx="5303520" cy="22860"/>
          </a:xfrm>
          <a:prstGeom prst="rect">
            <a:avLst/>
          </a:prstGeom>
          <a:solidFill>
            <a:srgbClr val="004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16736"/>
            <a:ext cx="1106424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400" b="1">
                <a:solidFill>
                  <a:srgbClr val="2D2D2D"/>
                </a:solidFill>
                <a:latin typeface="Yu Gothic"/>
              </a:defRPr>
            </a:pPr>
            <a:r>
              <a:t>「画像処理が置き換わる」のではなく、役割が拡張される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310896"/>
            <a:ext cx="502920" cy="347472"/>
          </a:xfrm>
          <a:prstGeom prst="roundRect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36271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032760" y="2131466"/>
            <a:ext cx="480059" cy="307238"/>
          </a:xfrm>
          <a:prstGeom prst="roundRect">
            <a:avLst/>
          </a:prstGeom>
          <a:noFill/>
          <a:ln w="254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35172" y="2073859"/>
            <a:ext cx="160020" cy="76809"/>
          </a:xfrm>
          <a:prstGeom prst="rect">
            <a:avLst/>
          </a:prstGeom>
          <a:noFill/>
          <a:ln w="254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92780" y="2201875"/>
            <a:ext cx="160020" cy="160020"/>
          </a:xfrm>
          <a:prstGeom prst="ellipse">
            <a:avLst/>
          </a:prstGeom>
          <a:noFill/>
          <a:ln w="254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75104"/>
            <a:ext cx="2438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600" b="1">
                <a:solidFill>
                  <a:srgbClr val="004096"/>
                </a:solidFill>
                <a:latin typeface="Yu Gothic"/>
              </a:defRPr>
            </a:pPr>
            <a:r>
              <a:t>① 2D認識は残る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450592"/>
            <a:ext cx="3224784" cy="1691640"/>
          </a:xfrm>
          <a:prstGeom prst="rect">
            <a:avLst/>
          </a:prstGeom>
          <a:noFill/>
        </p:spPr>
        <p:txBody>
          <a:bodyPr wrap="none" lIns="36576" rIns="18288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D2D2D"/>
                </a:solidFill>
                <a:latin typeface="Yu Gothic"/>
              </a:defRPr>
            </a:pPr>
            <a:r>
              <a:t>・二値化・輪郭・ラベリングは固定条件で有効</a:t>
            </a:r>
          </a:p>
          <a:p>
            <a:pPr>
              <a:spcAft>
                <a:spcPts val="200"/>
              </a:spcAft>
              <a:defRPr sz="1150">
                <a:solidFill>
                  <a:srgbClr val="2D2D2D"/>
                </a:solidFill>
                <a:latin typeface="Yu Gothic"/>
              </a:defRPr>
            </a:pPr>
            <a:r>
              <a:t>・YOLO/SAMなどでばらつきのある物体検出へ</a:t>
            </a:r>
          </a:p>
          <a:p>
            <a:pPr>
              <a:spcAft>
                <a:spcPts val="200"/>
              </a:spcAft>
              <a:defRPr sz="1150">
                <a:solidFill>
                  <a:srgbClr val="2D2D2D"/>
                </a:solidFill>
                <a:latin typeface="Yu Gothic"/>
              </a:defRPr>
            </a:pPr>
            <a:r>
              <a:t>・人の前処理：照明・ROI・閾値／教師データ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8640" y="1828800"/>
            <a:ext cx="36271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79920" y="2084832"/>
            <a:ext cx="54864" cy="54864"/>
          </a:xfrm>
          <a:prstGeom prst="ellipse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17080" y="2153412"/>
            <a:ext cx="54864" cy="54864"/>
          </a:xfrm>
          <a:prstGeom prst="ellipse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54240" y="2098548"/>
            <a:ext cx="54864" cy="54864"/>
          </a:xfrm>
          <a:prstGeom prst="ellipse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8500" y="2304288"/>
            <a:ext cx="54864" cy="54864"/>
          </a:xfrm>
          <a:prstGeom prst="ellipse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19950" y="2276856"/>
            <a:ext cx="54864" cy="54864"/>
          </a:xfrm>
          <a:prstGeom prst="ellipse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57110" y="2215134"/>
            <a:ext cx="54864" cy="54864"/>
          </a:xfrm>
          <a:prstGeom prst="ellipse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007352" y="2112264"/>
            <a:ext cx="137160" cy="68580"/>
          </a:xfrm>
          <a:prstGeom prst="line">
            <a:avLst/>
          </a:prstGeom>
          <a:ln w="1651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144512" y="2125980"/>
            <a:ext cx="137160" cy="54864"/>
          </a:xfrm>
          <a:prstGeom prst="line">
            <a:avLst/>
          </a:prstGeom>
          <a:ln w="1651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075932" y="2180844"/>
            <a:ext cx="68580" cy="150876"/>
          </a:xfrm>
          <a:prstGeom prst="line">
            <a:avLst/>
          </a:prstGeom>
          <a:ln w="1651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075932" y="2304288"/>
            <a:ext cx="171450" cy="27432"/>
          </a:xfrm>
          <a:prstGeom prst="line">
            <a:avLst/>
          </a:prstGeom>
          <a:ln w="1651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247382" y="2242566"/>
            <a:ext cx="137160" cy="61722"/>
          </a:xfrm>
          <a:prstGeom prst="line">
            <a:avLst/>
          </a:prstGeom>
          <a:ln w="1651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144512" y="2180844"/>
            <a:ext cx="102870" cy="123444"/>
          </a:xfrm>
          <a:prstGeom prst="line">
            <a:avLst/>
          </a:prstGeom>
          <a:ln w="1651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587240" y="1975104"/>
            <a:ext cx="2438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600" b="1">
                <a:solidFill>
                  <a:srgbClr val="004096"/>
                </a:solidFill>
                <a:latin typeface="Yu Gothic"/>
              </a:defRPr>
            </a:pPr>
            <a:r>
              <a:t>② 3D・時間へ拡張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9808" y="2450592"/>
            <a:ext cx="3224784" cy="1691640"/>
          </a:xfrm>
          <a:prstGeom prst="rect">
            <a:avLst/>
          </a:prstGeom>
          <a:noFill/>
        </p:spPr>
        <p:txBody>
          <a:bodyPr wrap="none" lIns="36576" rIns="18288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D2D2D"/>
                </a:solidFill>
                <a:latin typeface="Yu Gothic"/>
              </a:defRPr>
            </a:pPr>
            <a:r>
              <a:t>・Depth・Point Cloud・姿勢推定で実空間へ</a:t>
            </a:r>
          </a:p>
          <a:p>
            <a:pPr>
              <a:spcAft>
                <a:spcPts val="200"/>
              </a:spcAft>
              <a:defRPr sz="1150">
                <a:solidFill>
                  <a:srgbClr val="2D2D2D"/>
                </a:solidFill>
                <a:latin typeface="Yu Gothic"/>
              </a:defRPr>
            </a:pPr>
            <a:r>
              <a:t>・動画・Trackingで「動き」や状態変化を見る</a:t>
            </a:r>
          </a:p>
          <a:p>
            <a:pPr>
              <a:spcAft>
                <a:spcPts val="200"/>
              </a:spcAft>
              <a:defRPr sz="1150">
                <a:solidFill>
                  <a:srgbClr val="2D2D2D"/>
                </a:solidFill>
                <a:latin typeface="Yu Gothic"/>
              </a:defRPr>
            </a:pPr>
            <a:r>
              <a:t>・人の前処理：カメラ校正・Depth整合・時刻同期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5799" y="1828800"/>
            <a:ext cx="3627120" cy="2377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940796" y="2418588"/>
            <a:ext cx="308610" cy="82296"/>
          </a:xfrm>
          <a:prstGeom prst="rect">
            <a:avLst/>
          </a:prstGeom>
          <a:noFill/>
          <a:ln w="254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11009376" y="2199132"/>
            <a:ext cx="123443" cy="205740"/>
          </a:xfrm>
          <a:prstGeom prst="line">
            <a:avLst/>
          </a:prstGeom>
          <a:ln w="2540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11132819" y="2116836"/>
            <a:ext cx="192025" cy="82296"/>
          </a:xfrm>
          <a:prstGeom prst="line">
            <a:avLst/>
          </a:prstGeom>
          <a:ln w="2540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1324844" y="2116836"/>
            <a:ext cx="137160" cy="123444"/>
          </a:xfrm>
          <a:prstGeom prst="line">
            <a:avLst/>
          </a:prstGeom>
          <a:ln w="2540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0978515" y="2374011"/>
            <a:ext cx="61722" cy="6172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01959" y="2168271"/>
            <a:ext cx="61722" cy="6172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293982" y="2085975"/>
            <a:ext cx="61722" cy="6172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31142" y="2209419"/>
            <a:ext cx="61722" cy="6172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11462004" y="2205990"/>
            <a:ext cx="68580" cy="34290"/>
          </a:xfrm>
          <a:prstGeom prst="line">
            <a:avLst/>
          </a:prstGeom>
          <a:ln w="2540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462004" y="2240280"/>
            <a:ext cx="68580" cy="48006"/>
          </a:xfrm>
          <a:prstGeom prst="line">
            <a:avLst/>
          </a:prstGeom>
          <a:ln w="25400">
            <a:solidFill>
              <a:srgbClr val="0040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34399" y="1975104"/>
            <a:ext cx="243840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600" b="1">
                <a:solidFill>
                  <a:srgbClr val="004096"/>
                </a:solidFill>
                <a:latin typeface="Yu Gothic"/>
              </a:defRPr>
            </a:pPr>
            <a:r>
              <a:t>③ センサ融合へ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6968" y="2450592"/>
            <a:ext cx="3224784" cy="1691640"/>
          </a:xfrm>
          <a:prstGeom prst="rect">
            <a:avLst/>
          </a:prstGeom>
          <a:noFill/>
        </p:spPr>
        <p:txBody>
          <a:bodyPr wrap="none" lIns="36576" rIns="18288" tIns="18288" bIns="18288">
            <a:spAutoFit/>
          </a:bodyPr>
          <a:lstStyle/>
          <a:p>
            <a:pPr>
              <a:spcAft>
                <a:spcPts val="200"/>
              </a:spcAft>
              <a:defRPr sz="1150">
                <a:solidFill>
                  <a:srgbClr val="2D2D2D"/>
                </a:solidFill>
                <a:latin typeface="Yu Gothic"/>
              </a:defRPr>
            </a:pPr>
            <a:r>
              <a:t>・Camera＋LiDAR＋Robot State＋Forceを統合</a:t>
            </a:r>
          </a:p>
          <a:p>
            <a:pPr>
              <a:spcAft>
                <a:spcPts val="200"/>
              </a:spcAft>
              <a:defRPr sz="1150">
                <a:solidFill>
                  <a:srgbClr val="2D2D2D"/>
                </a:solidFill>
                <a:latin typeface="Yu Gothic"/>
              </a:defRPr>
            </a:pPr>
            <a:r>
              <a:t>・物体検出結果をWorld Stateとして扱う</a:t>
            </a:r>
          </a:p>
          <a:p>
            <a:pPr>
              <a:spcAft>
                <a:spcPts val="200"/>
              </a:spcAft>
              <a:defRPr sz="1150">
                <a:solidFill>
                  <a:srgbClr val="2D2D2D"/>
                </a:solidFill>
                <a:latin typeface="Yu Gothic"/>
              </a:defRPr>
            </a:pPr>
            <a:r>
              <a:t>・人の前処理：外部標定・座標系統一・評価設計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617720"/>
            <a:ext cx="2148840" cy="658368"/>
          </a:xfrm>
          <a:prstGeom prst="roundRect">
            <a:avLst/>
          </a:prstGeom>
          <a:solidFill>
            <a:srgbClr val="F7FAFF"/>
          </a:solidFill>
          <a:ln w="1524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69087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004096"/>
                </a:solidFill>
                <a:latin typeface="Yu Gothic"/>
              </a:defRPr>
            </a:pPr>
            <a:r>
              <a:t>画像処理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4965192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80" b="0">
                <a:solidFill>
                  <a:srgbClr val="2D2D2D"/>
                </a:solidFill>
                <a:latin typeface="Yu Gothic"/>
              </a:defRPr>
            </a:pPr>
            <a:r>
              <a:t>物体・形状・画素量</a:t>
            </a:r>
          </a:p>
        </p:txBody>
      </p:sp>
      <p:sp>
        <p:nvSpPr>
          <p:cNvPr id="43" name="Right Arrow 42"/>
          <p:cNvSpPr/>
          <p:nvPr/>
        </p:nvSpPr>
        <p:spPr>
          <a:xfrm>
            <a:off x="2880360" y="4818888"/>
            <a:ext cx="411480" cy="228600"/>
          </a:xfrm>
          <a:prstGeom prst="rightArrow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20439" y="4617720"/>
            <a:ext cx="2148840" cy="658368"/>
          </a:xfrm>
          <a:prstGeom prst="roundRect">
            <a:avLst/>
          </a:prstGeom>
          <a:solidFill>
            <a:srgbClr val="F7FAFF"/>
          </a:solidFill>
          <a:ln w="1524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66159" y="469087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004096"/>
                </a:solidFill>
                <a:latin typeface="Yu Gothic"/>
              </a:defRPr>
            </a:pPr>
            <a:r>
              <a:t>3D認識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59" y="4965192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80" b="0">
                <a:solidFill>
                  <a:srgbClr val="2D2D2D"/>
                </a:solidFill>
                <a:latin typeface="Yu Gothic"/>
              </a:defRPr>
            </a:pPr>
            <a:r>
              <a:t>距離・姿勢・空間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5760720" y="4818888"/>
            <a:ext cx="411480" cy="228600"/>
          </a:xfrm>
          <a:prstGeom prst="rightArrow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400800" y="4617720"/>
            <a:ext cx="2148840" cy="658368"/>
          </a:xfrm>
          <a:prstGeom prst="roundRect">
            <a:avLst/>
          </a:prstGeom>
          <a:solidFill>
            <a:srgbClr val="F7FAFF"/>
          </a:solidFill>
          <a:ln w="1524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46520" y="469087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004096"/>
                </a:solidFill>
                <a:latin typeface="Yu Gothic"/>
              </a:defRPr>
            </a:pPr>
            <a:r>
              <a:t>World State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46520" y="4965192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80" b="0">
                <a:solidFill>
                  <a:srgbClr val="2D2D2D"/>
                </a:solidFill>
                <a:latin typeface="Yu Gothic"/>
              </a:defRPr>
            </a:pPr>
            <a:r>
              <a:t>状態・障害物・把持可能性</a:t>
            </a:r>
          </a:p>
        </p:txBody>
      </p:sp>
      <p:sp>
        <p:nvSpPr>
          <p:cNvPr id="51" name="Right Arrow 50"/>
          <p:cNvSpPr/>
          <p:nvPr/>
        </p:nvSpPr>
        <p:spPr>
          <a:xfrm>
            <a:off x="8641080" y="4818888"/>
            <a:ext cx="411480" cy="228600"/>
          </a:xfrm>
          <a:prstGeom prst="rightArrow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281159" y="4617720"/>
            <a:ext cx="2148840" cy="658368"/>
          </a:xfrm>
          <a:prstGeom prst="roundRect">
            <a:avLst/>
          </a:prstGeom>
          <a:solidFill>
            <a:srgbClr val="F7FAFF"/>
          </a:solidFill>
          <a:ln w="1524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26880" y="4690872"/>
            <a:ext cx="20574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400" b="1">
                <a:solidFill>
                  <a:srgbClr val="004096"/>
                </a:solidFill>
                <a:latin typeface="Yu Gothic"/>
              </a:defRPr>
            </a:pPr>
            <a:r>
              <a:t>Action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965192"/>
            <a:ext cx="20574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80" b="0">
                <a:solidFill>
                  <a:srgbClr val="2D2D2D"/>
                </a:solidFill>
                <a:latin typeface="Yu Gothic"/>
              </a:defRPr>
            </a:pPr>
            <a:r>
              <a:t>判断・制御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" y="5559552"/>
            <a:ext cx="10789920" cy="566928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" y="5696712"/>
            <a:ext cx="103327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4096"/>
                </a:solidFill>
                <a:latin typeface="Yu Gothic"/>
              </a:defRPr>
            </a:pPr>
            <a:r>
              <a:t>ポイント：なくなる前処理は「特徴づくり」。重要になる前処理は「校正・同期・座標変換」。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0040" y="6446520"/>
            <a:ext cx="11704320" cy="18288"/>
          </a:xfrm>
          <a:prstGeom prst="rect">
            <a:avLst/>
          </a:prstGeom>
          <a:solidFill>
            <a:srgbClr val="004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6547104"/>
            <a:ext cx="1152144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19" b="0">
                <a:solidFill>
                  <a:srgbClr val="004096"/>
                </a:solidFill>
                <a:latin typeface="Yu Gothic"/>
              </a:defRPr>
            </a:pPr>
            <a:r>
              <a:t>参考URL: https://docs.opencv.org/  |  https://arxiv.org/abs/2406.09414  |  https://research.nvidia.com/labs/toronto-ai/BEVFusion/  |  https://vgg-t.github.io/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594360"/>
            <a:ext cx="822960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2600" b="1">
                <a:solidFill>
                  <a:srgbClr val="004096"/>
                </a:solidFill>
                <a:latin typeface="Yu Gothic"/>
              </a:defRPr>
            </a:pPr>
            <a:r>
              <a:t>Physical AIで注目される企業・組織</a:t>
            </a:r>
          </a:p>
        </p:txBody>
      </p:sp>
      <p:sp>
        <p:nvSpPr>
          <p:cNvPr id="3" name="Rectangle 2"/>
          <p:cNvSpPr/>
          <p:nvPr/>
        </p:nvSpPr>
        <p:spPr>
          <a:xfrm>
            <a:off x="347472" y="1143000"/>
            <a:ext cx="5303520" cy="22860"/>
          </a:xfrm>
          <a:prstGeom prst="rect">
            <a:avLst/>
          </a:prstGeom>
          <a:solidFill>
            <a:srgbClr val="004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16736"/>
            <a:ext cx="11064240" cy="34747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1400" b="1">
                <a:solidFill>
                  <a:srgbClr val="2D2D2D"/>
                </a:solidFill>
                <a:latin typeface="Yu Gothic"/>
              </a:defRPr>
            </a:pPr>
            <a:r>
              <a:t>技術レイヤごとに、既存画像処理から3D・ロボットAIへ役割が広がる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0" y="310896"/>
            <a:ext cx="502920" cy="347472"/>
          </a:xfrm>
          <a:prstGeom prst="roundRect">
            <a:avLst/>
          </a:prstGeom>
          <a:solidFill>
            <a:srgbClr val="004096"/>
          </a:solidFill>
          <a:ln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783080"/>
            <a:ext cx="685800" cy="411480"/>
          </a:xfrm>
          <a:prstGeom prst="rect">
            <a:avLst/>
          </a:prstGeom>
          <a:solidFill>
            <a:srgbClr val="004096"/>
          </a:solidFill>
          <a:ln w="1016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865376"/>
            <a:ext cx="630936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Yu Gothic"/>
              </a:defRPr>
            </a:pPr>
            <a:r>
              <a:t>層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83080"/>
            <a:ext cx="1874519" cy="411480"/>
          </a:xfrm>
          <a:prstGeom prst="rect">
            <a:avLst/>
          </a:prstGeom>
          <a:solidFill>
            <a:srgbClr val="004096"/>
          </a:solidFill>
          <a:ln w="1016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865376"/>
            <a:ext cx="1819655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Yu Gothic"/>
              </a:defRPr>
            </a:pPr>
            <a:r>
              <a:t>主な役割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783080"/>
            <a:ext cx="2788920" cy="411480"/>
          </a:xfrm>
          <a:prstGeom prst="rect">
            <a:avLst/>
          </a:prstGeom>
          <a:solidFill>
            <a:srgbClr val="004096"/>
          </a:solidFill>
          <a:ln w="1016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9232" y="1865376"/>
            <a:ext cx="2734056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Yu Gothic"/>
              </a:defRPr>
            </a:pPr>
            <a:r>
              <a:t>活躍する技術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783080"/>
            <a:ext cx="2926080" cy="411480"/>
          </a:xfrm>
          <a:prstGeom prst="rect">
            <a:avLst/>
          </a:prstGeom>
          <a:solidFill>
            <a:srgbClr val="004096"/>
          </a:solidFill>
          <a:ln w="1016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88152" y="1865376"/>
            <a:ext cx="2871216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Yu Gothic"/>
              </a:defRPr>
            </a:pPr>
            <a:r>
              <a:t>日本の注目例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783080"/>
            <a:ext cx="3108960" cy="411480"/>
          </a:xfrm>
          <a:prstGeom prst="rect">
            <a:avLst/>
          </a:prstGeom>
          <a:solidFill>
            <a:srgbClr val="004096"/>
          </a:solidFill>
          <a:ln w="1016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1865376"/>
            <a:ext cx="3054096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919" b="1">
                <a:solidFill>
                  <a:srgbClr val="FFFFFF"/>
                </a:solidFill>
                <a:latin typeface="Yu Gothic"/>
              </a:defRPr>
            </a:pPr>
            <a:r>
              <a:t>海外の最先端例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194560"/>
            <a:ext cx="6858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377440"/>
            <a:ext cx="6492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4096"/>
                </a:solidFill>
                <a:latin typeface="Yu Gothic"/>
              </a:defRPr>
            </a:pPr>
            <a:r>
              <a:t>L1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194560"/>
            <a:ext cx="1874519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2377440"/>
            <a:ext cx="172821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050" b="1">
                <a:solidFill>
                  <a:srgbClr val="004096"/>
                </a:solidFill>
                <a:latin typeface="Yu Gothic"/>
              </a:defRPr>
            </a:pPr>
            <a:r>
              <a:t>2D検査・認識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71800" y="2194560"/>
            <a:ext cx="27889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44952" y="2313432"/>
            <a:ext cx="2642615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二値化/輪郭/AI外観検査</a:t>
            </a:r>
            <a:br/>
            <a:r>
              <a:t>YOLO/SAM/分類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60720" y="2194560"/>
            <a:ext cx="29260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33872" y="2313432"/>
            <a:ext cx="277977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キーエンス、オムロン</a:t>
            </a:r>
            <a:br/>
            <a:r>
              <a:t>NEC、Panasonic Connect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0" y="2194560"/>
            <a:ext cx="3108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9952" y="2313432"/>
            <a:ext cx="296265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Cognex、Ultralytics</a:t>
            </a:r>
            <a:br/>
            <a:r>
              <a:t>Roboflow、LandingAI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907791"/>
            <a:ext cx="685800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" y="3090672"/>
            <a:ext cx="6492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4096"/>
                </a:solidFill>
                <a:latin typeface="Yu Gothic"/>
              </a:defRPr>
            </a:pPr>
            <a:r>
              <a:t>L2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2907791"/>
            <a:ext cx="1874519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70432" y="3090672"/>
            <a:ext cx="172821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050" b="1">
                <a:solidFill>
                  <a:srgbClr val="004096"/>
                </a:solidFill>
                <a:latin typeface="Yu Gothic"/>
              </a:defRPr>
            </a:pPr>
            <a:r>
              <a:t>動画・追跡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71800" y="2907791"/>
            <a:ext cx="2788920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44952" y="3026663"/>
            <a:ext cx="2642615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Tracking/Optical Flow</a:t>
            </a:r>
            <a:br/>
            <a:r>
              <a:t>行動・状態の時系列化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2907791"/>
            <a:ext cx="2926080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3026663"/>
            <a:ext cx="277977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Sony、Canon、NEC</a:t>
            </a:r>
            <a:br/>
            <a:r>
              <a:t>PFN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0" y="2907791"/>
            <a:ext cx="3108960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9952" y="3026663"/>
            <a:ext cx="296265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NVIDIA Metropolis</a:t>
            </a:r>
            <a:br/>
            <a:r>
              <a:t>Meta SAM系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621024"/>
            <a:ext cx="6858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3803904"/>
            <a:ext cx="6492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4096"/>
                </a:solidFill>
                <a:latin typeface="Yu Gothic"/>
              </a:defRPr>
            </a:pPr>
            <a:r>
              <a:t>L3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97280" y="3621024"/>
            <a:ext cx="1874519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3803904"/>
            <a:ext cx="172821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050" b="1">
                <a:solidFill>
                  <a:srgbClr val="004096"/>
                </a:solidFill>
                <a:latin typeface="Yu Gothic"/>
              </a:defRPr>
            </a:pPr>
            <a:r>
              <a:t>3D幾何・把持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71800" y="3621024"/>
            <a:ext cx="27889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44952" y="3739896"/>
            <a:ext cx="2642615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Depth/Point Cloud</a:t>
            </a:r>
            <a:br/>
            <a:r>
              <a:t>Pose/3D Vision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60720" y="3621024"/>
            <a:ext cx="29260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33872" y="3739896"/>
            <a:ext cx="277977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Sony SSS、Mujin</a:t>
            </a:r>
            <a:br/>
            <a:r>
              <a:t>キーエンス、オムロン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686800" y="3621024"/>
            <a:ext cx="3108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59952" y="3739896"/>
            <a:ext cx="296265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Zivid、Mech-Mind</a:t>
            </a:r>
            <a:br/>
            <a:r>
              <a:t>Google/Meta研究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334256"/>
            <a:ext cx="685800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" y="4517136"/>
            <a:ext cx="6492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4096"/>
                </a:solidFill>
                <a:latin typeface="Yu Gothic"/>
              </a:defRPr>
            </a:pPr>
            <a:r>
              <a:t>L4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97280" y="4334256"/>
            <a:ext cx="1874519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70432" y="4517136"/>
            <a:ext cx="172821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050" b="1">
                <a:solidFill>
                  <a:srgbClr val="004096"/>
                </a:solidFill>
                <a:latin typeface="Yu Gothic"/>
              </a:defRPr>
            </a:pPr>
            <a:r>
              <a:t>センサ融合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71800" y="4334256"/>
            <a:ext cx="2788920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44952" y="4453128"/>
            <a:ext cx="2642615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Camera+LiDAR+Robot</a:t>
            </a:r>
            <a:br/>
            <a:r>
              <a:t>BEV/座標統合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4334256"/>
            <a:ext cx="2926080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33872" y="4453128"/>
            <a:ext cx="277977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TIER IV、Woven by Toyota</a:t>
            </a:r>
            <a:br/>
            <a:r>
              <a:t>DENSO、Honda R&amp;D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4334256"/>
            <a:ext cx="3108960" cy="713232"/>
          </a:xfrm>
          <a:prstGeom prst="rect">
            <a:avLst/>
          </a:prstGeom>
          <a:solidFill>
            <a:srgbClr val="F7FA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59952" y="4453128"/>
            <a:ext cx="296265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NVIDIA、Waymo</a:t>
            </a:r>
            <a:br/>
            <a:r>
              <a:t>Tesla、Mobileye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5047488"/>
            <a:ext cx="68580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9768" y="5230368"/>
            <a:ext cx="64922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300" b="1">
                <a:solidFill>
                  <a:srgbClr val="004096"/>
                </a:solidFill>
                <a:latin typeface="Yu Gothic"/>
              </a:defRPr>
            </a:pPr>
            <a:r>
              <a:t>L5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97280" y="5047488"/>
            <a:ext cx="1874519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70432" y="5230368"/>
            <a:ext cx="1728216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050" b="1">
                <a:solidFill>
                  <a:srgbClr val="004096"/>
                </a:solidFill>
                <a:latin typeface="Yu Gothic"/>
              </a:defRPr>
            </a:pPr>
            <a:r>
              <a:t>World State・行動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71800" y="5047488"/>
            <a:ext cx="278892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44952" y="5166359"/>
            <a:ext cx="2642615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World Model/VLA</a:t>
            </a:r>
            <a:br/>
            <a:r>
              <a:t>ロボット基盤・制御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5047488"/>
            <a:ext cx="292608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33872" y="5166359"/>
            <a:ext cx="277977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FANUC、YASKAWA、川崎重工</a:t>
            </a:r>
            <a:br/>
            <a:r>
              <a:t>Mujin、PFN/トヨタ系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5047488"/>
            <a:ext cx="3108960" cy="713232"/>
          </a:xfrm>
          <a:prstGeom prst="rect">
            <a:avLst/>
          </a:prstGeom>
          <a:solidFill>
            <a:srgbClr val="FFFFFF"/>
          </a:solidFill>
          <a:ln w="7620">
            <a:solidFill>
              <a:srgbClr val="8CAA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59952" y="5166359"/>
            <a:ext cx="2962656" cy="62179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860" b="0">
                <a:solidFill>
                  <a:srgbClr val="2D2D2D"/>
                </a:solidFill>
                <a:latin typeface="Yu Gothic"/>
              </a:defRPr>
            </a:pPr>
            <a:r>
              <a:t>Google DeepMind</a:t>
            </a:r>
            <a:br/>
            <a:r>
              <a:t>NVIDIA、Boston Dynamics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85800" y="5806440"/>
            <a:ext cx="10789920" cy="429768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4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8680" y="5916168"/>
            <a:ext cx="10424160" cy="21031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1150" b="1">
                <a:solidFill>
                  <a:srgbClr val="004096"/>
                </a:solidFill>
                <a:latin typeface="Yu Gothic"/>
              </a:defRPr>
            </a:pPr>
            <a:r>
              <a:t>実務では L1〜L3（検査・3D認識）が先に広がり、L4〜L5（融合・行動AI）は自動運転・ロボットから普及が進む。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80" y="6190488"/>
            <a:ext cx="1042416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 algn="ctr">
              <a:defRPr sz="750" b="0">
                <a:solidFill>
                  <a:srgbClr val="646464"/>
                </a:solidFill>
                <a:latin typeface="Yu Gothic"/>
              </a:defRPr>
            </a:pPr>
            <a:r>
              <a:t>※公開情報から整理した注目領域であり、優劣・採用状況を断定するものではありません。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0040" y="6446520"/>
            <a:ext cx="11704320" cy="18288"/>
          </a:xfrm>
          <a:prstGeom prst="rect">
            <a:avLst/>
          </a:prstGeom>
          <a:solidFill>
            <a:srgbClr val="004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0040" y="6547104"/>
            <a:ext cx="1152144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pPr>
              <a:defRPr sz="819" b="0">
                <a:solidFill>
                  <a:srgbClr val="004096"/>
                </a:solidFill>
                <a:latin typeface="Yu Gothic"/>
              </a:defRPr>
            </a:pPr>
            <a:r>
              <a:t>参考URL: https://www.keyence.com/products/vision/  |  https://www.omron.com/global/en/technology/  |  https://mujin-corp.com/  |  https://tier4.co.jp/  |  https://www.nvidia.com/en-us/ai/cosmos/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物体検出の実用例としてのYOLO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ここからは、使いやすい物体検出アルゴリズムの例としてYOLOを紹介する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9</a:t>
            </a:r>
          </a:p>
        </p:txBody>
      </p:sp>
      <p:sp>
        <p:nvSpPr>
          <p:cNvPr id="7" name="Shape 5"/>
          <p:cNvSpPr/>
          <p:nvPr/>
        </p:nvSpPr>
        <p:spPr>
          <a:xfrm>
            <a:off x="731520" y="1600200"/>
            <a:ext cx="2926080" cy="3200400"/>
          </a:xfrm>
          <a:prstGeom prst="roundRect">
            <a:avLst>
              <a:gd name="adj" fmla="val 375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従来画像処理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755648" y="23317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755648" y="250317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755648" y="26746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927098" y="23317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927098" y="250317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927098" y="26746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098548" y="23317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098548" y="250317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098548" y="2674620"/>
            <a:ext cx="150876" cy="150876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・明るさ・色・形の条件を人が設計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・照明や角度が変わると調整が必要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・説明性と速度は高い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77640" y="3200400"/>
            <a:ext cx="73152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937760" y="1600200"/>
            <a:ext cx="2926080" cy="32004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166360" y="1828800"/>
            <a:ext cx="246888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79058" y="2423160"/>
            <a:ext cx="272034" cy="77724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179058" y="2423160"/>
            <a:ext cx="272034" cy="349758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179058" y="2656332"/>
            <a:ext cx="272034" cy="-155448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179058" y="2656332"/>
            <a:ext cx="272034" cy="116586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79058" y="2889504"/>
            <a:ext cx="272034" cy="-116586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451092" y="2500884"/>
            <a:ext cx="272034" cy="116586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451092" y="2772918"/>
            <a:ext cx="272034" cy="-155448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151855" y="2395957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151855" y="2629129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151855" y="2862301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423889" y="2473681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423889" y="2745715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695923" y="2590267"/>
            <a:ext cx="54407" cy="54407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212080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・画像全体を1回の推論で処理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・物体の位置と種類を同時に出力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・複数物体を同時検出しやすい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183880" y="3200400"/>
            <a:ext cx="731520" cy="0"/>
          </a:xfrm>
          <a:prstGeom prst="line">
            <a:avLst/>
          </a:prstGeom>
          <a:noFill/>
          <a:ln w="279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144000" y="160020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372600" y="1828800"/>
            <a:ext cx="19202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現場活用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960102" y="2850642"/>
            <a:ext cx="272034" cy="11658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092233" y="2850642"/>
            <a:ext cx="155448" cy="-233172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045598" y="2796235"/>
            <a:ext cx="124358" cy="1243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247681" y="2617470"/>
            <a:ext cx="217627" cy="-116586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08819" y="2563063"/>
            <a:ext cx="124358" cy="1243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465308" y="2500884"/>
            <a:ext cx="101041" cy="170993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10418674" y="2446477"/>
            <a:ext cx="124358" cy="124358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566349" y="2671877"/>
            <a:ext cx="93269" cy="-38862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566349" y="2671877"/>
            <a:ext cx="85496" cy="62179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418320" y="3200400"/>
            <a:ext cx="173736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・OK/NG判定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・個数カウント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・安全監視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・アラート化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914400" y="5532120"/>
            <a:ext cx="103327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1097280" y="5605272"/>
            <a:ext cx="99669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YOLOは、Physical AI全体ではなく「2D物体検出を現場で試しやすくした技術」と位置づける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https://arxiv.org/abs/1506.02640  |  https://docs.ultralytics.com/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YOLOの原理：One-stage Detection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画像全体を一度に見て、位置・種類・信頼度を同時に予測する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10</a:t>
            </a:r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141732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1755648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1755648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28370" y="2112264"/>
            <a:ext cx="583387" cy="381853"/>
          </a:xfrm>
          <a:prstGeom prst="roundRect">
            <a:avLst>
              <a:gd name="adj" fmla="val 28736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234440" y="2029968"/>
            <a:ext cx="185623" cy="95463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329903" y="2162556"/>
            <a:ext cx="180320" cy="18032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04672" y="2734056"/>
            <a:ext cx="1271016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入力画像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31720" y="2450592"/>
            <a:ext cx="640080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154680" y="1600200"/>
            <a:ext cx="2194560" cy="1691640"/>
          </a:xfrm>
          <a:prstGeom prst="roundRect">
            <a:avLst>
              <a:gd name="adj" fmla="val 6486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38328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CNN特徴抽出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943350" y="2313432"/>
            <a:ext cx="240030" cy="6858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943350" y="2313432"/>
            <a:ext cx="240030" cy="30861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943350" y="2519172"/>
            <a:ext cx="240030" cy="-13716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943350" y="2519172"/>
            <a:ext cx="240030" cy="10287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943350" y="2724912"/>
            <a:ext cx="240030" cy="-10287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183380" y="2382012"/>
            <a:ext cx="240030" cy="10287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183380" y="2622042"/>
            <a:ext cx="240030" cy="-13716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919347" y="228942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919347" y="249516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919347" y="270090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159377" y="235800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159377" y="259803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399407" y="2460879"/>
            <a:ext cx="48006" cy="4800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440680" y="2450592"/>
            <a:ext cx="640080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263640" y="1600200"/>
            <a:ext cx="21945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492240" y="1810512"/>
            <a:ext cx="17373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同時予測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519672" y="2148840"/>
            <a:ext cx="16916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x, y, w, h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confidence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class probability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549640" y="2450592"/>
            <a:ext cx="640080" cy="0"/>
          </a:xfrm>
          <a:prstGeom prst="line">
            <a:avLst/>
          </a:prstGeom>
          <a:noFill/>
          <a:ln w="2540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9372600" y="1600200"/>
            <a:ext cx="2148840" cy="1691640"/>
          </a:xfrm>
          <a:prstGeom prst="roundRect">
            <a:avLst>
              <a:gd name="adj" fmla="val 6486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601200" y="1810512"/>
            <a:ext cx="169164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検出結果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9582912" y="233172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908073" y="249228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9984882" y="256909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151943" y="259790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111449" y="26956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013686" y="27361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9915923" y="26956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9875429" y="259790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9915923" y="250013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013686" y="245964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0111449" y="250013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582912" y="214884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A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gear 0.92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497312" y="233172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10822473" y="249228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10899282" y="256909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11066343" y="259790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11025849" y="26956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10928086" y="27361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830323" y="26956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0789829" y="259790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10830323" y="250013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10928086" y="245964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1025849" y="250013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10497312" y="214884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8C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bolt 0.89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14400" y="4069080"/>
            <a:ext cx="4800600" cy="1143000"/>
          </a:xfrm>
          <a:prstGeom prst="roundRect">
            <a:avLst>
              <a:gd name="adj" fmla="val 96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143000" y="4224528"/>
            <a:ext cx="13716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Two-stage型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143000" y="4526280"/>
            <a:ext cx="4251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①物体候補を探す → ②候補を分類する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例：Faster R-CNN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400800" y="4069080"/>
            <a:ext cx="48006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6629400" y="4224528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One-stage型（YOLO）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6629400" y="4526280"/>
            <a:ext cx="42519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画像から位置・クラスを一気に推定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高速処理に向く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https://arxiv.org/abs/1506.02640  |  https://arxiv.org/abs/1506.01497  |  https://arxiv.org/abs/1512.02325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YOLOが現場PoCで使いやすい理由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従来画像処理と比べて、ばらつきのある物体検出に強く、試作しやすい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11</a:t>
            </a:r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0881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691640"/>
            <a:ext cx="12801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比較観点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従来画像処理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691640"/>
            <a:ext cx="1645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YOLO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2002536"/>
            <a:ext cx="10607040" cy="0"/>
          </a:xfrm>
          <a:prstGeom prst="line">
            <a:avLst/>
          </a:prstGeom>
          <a:noFill/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057400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調整方法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514600" y="2057400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閾値・照明・特徴量を人が調整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2057400"/>
            <a:ext cx="4754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学習画像から特徴を学習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2505456"/>
            <a:ext cx="10607040" cy="0"/>
          </a:xfrm>
          <a:prstGeom prst="line">
            <a:avLst/>
          </a:prstGeom>
          <a:noFill/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2560320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強い条件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51460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固定カメラ・固定照明・決まった形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63640" y="2560320"/>
            <a:ext cx="4754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明るさ・角度・背景のばらつき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68680" y="3008376"/>
            <a:ext cx="10607040" cy="0"/>
          </a:xfrm>
          <a:prstGeom prst="line">
            <a:avLst/>
          </a:prstGeom>
          <a:noFill/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3063240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14600" y="3063240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領域・輪郭・重心・寸法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63640" y="3063240"/>
            <a:ext cx="4754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種類・位置・信頼度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3511296"/>
            <a:ext cx="10607040" cy="0"/>
          </a:xfrm>
          <a:prstGeom prst="line">
            <a:avLst/>
          </a:prstGeom>
          <a:noFill/>
          <a:ln w="762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14400" y="3566160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注意点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1460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条件変化で再調整が必要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63640" y="3566160"/>
            <a:ext cx="4754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教師データ・ライセンス・評価が必要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14400" y="470916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3000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メリット① 高速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26280" y="470916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754880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メリット② 複数物体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138160" y="4709160"/>
            <a:ext cx="3017520" cy="685800"/>
          </a:xfrm>
          <a:prstGeom prst="roundRect">
            <a:avLst>
              <a:gd name="adj" fmla="val 16000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8366760" y="4864608"/>
            <a:ext cx="25603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メリット③ 実装しやすい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5715000"/>
            <a:ext cx="98755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Python / CLI / 学習済みモデル / 独自データ学習 / Edge展開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https://docs.ultralytics.com/  |  https://arxiv.org/abs/1506.02640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社内事例①：外観検査・欠品検出への適用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実際の写真・数値に差し替えて使える事例スライド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12</a:t>
            </a:r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04088" y="164592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591410" y="1695298"/>
            <a:ext cx="230429" cy="213970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80289" y="1744675"/>
            <a:ext cx="52669" cy="724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・目視確認に時間がかかる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・判定にばらつきが出る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06324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04088" y="320040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4088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82112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542032" y="3200400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542032" y="3200400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798796" y="3200400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871216" y="3200400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542032" y="3457164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542032" y="3529584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798796" y="3529584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2871216" y="3457164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667122" y="3325490"/>
            <a:ext cx="82296" cy="82296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0392" y="365760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・部品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・欠品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・キズ・汚れ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337560" y="150876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447288" y="164592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47288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0" y="1627632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344485" y="1705173"/>
            <a:ext cx="204094" cy="20409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410322" y="1771010"/>
            <a:ext cx="72420" cy="7242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553517" y="1795699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518807" y="1879495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5435011" y="1914205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5351214" y="1879495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316504" y="1795699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351214" y="1711902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435011" y="1677192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5518807" y="1711902"/>
            <a:ext cx="23043" cy="2304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593592" y="210312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・カメラ撮像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・YOLO検出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・OK/NG判定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337560" y="3063240"/>
            <a:ext cx="251460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447288" y="320040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447288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3931920" y="3182112"/>
            <a:ext cx="16002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318150" y="3414370"/>
            <a:ext cx="39502" cy="8229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5400446" y="3348533"/>
            <a:ext cx="39502" cy="148133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5482742" y="3282696"/>
            <a:ext cx="39502" cy="21397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318150" y="3480206"/>
            <a:ext cx="250180" cy="-213970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3593592" y="3657600"/>
            <a:ext cx="20574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・見逃し低減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・スピード向上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・データ蓄積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6263640" y="1508760"/>
            <a:ext cx="5257800" cy="3063240"/>
          </a:xfrm>
          <a:prstGeom prst="roundRect">
            <a:avLst>
              <a:gd name="adj" fmla="val 3582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92240" y="1719072"/>
            <a:ext cx="4800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カメラ＋YOLOによる判定イメージ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6720840" y="3063240"/>
            <a:ext cx="4251960" cy="384048"/>
          </a:xfrm>
          <a:prstGeom prst="rect">
            <a:avLst/>
          </a:prstGeom>
          <a:solidFill>
            <a:srgbClr val="DDEBFA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812280" y="31546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10744200" y="315468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8549640" y="2048256"/>
            <a:ext cx="704088" cy="46085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8677656" y="1965960"/>
            <a:ext cx="224028" cy="115214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792870" y="2125980"/>
            <a:ext cx="217627" cy="217627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8869680" y="2606040"/>
            <a:ext cx="-1188720" cy="411480"/>
          </a:xfrm>
          <a:prstGeom prst="line">
            <a:avLst/>
          </a:prstGeom>
          <a:noFill/>
          <a:ln w="12700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8869680" y="2606040"/>
            <a:ext cx="1097280" cy="411480"/>
          </a:xfrm>
          <a:prstGeom prst="line">
            <a:avLst/>
          </a:prstGeom>
          <a:noFill/>
          <a:ln w="12700">
            <a:solidFill>
              <a:srgbClr val="B9D7F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086600" y="26060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7411761" y="276660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7488570" y="284341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7655631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7615137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7517374" y="301047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7419611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7379117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7419611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7517374" y="27339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7615137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7086600" y="242316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BA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366760" y="26060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8691921" y="276660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8768730" y="284341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8935791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8895297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8797534" y="301047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8699771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8659277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8699771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83" name="Shape 81"/>
          <p:cNvSpPr/>
          <p:nvPr/>
        </p:nvSpPr>
        <p:spPr>
          <a:xfrm>
            <a:off x="8797534" y="27339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8895297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F28C28"/>
            </a:solidFill>
            <a:prstDash val="solid"/>
          </a:ln>
        </p:spPr>
        <p:txBody>
          <a:bodyPr/>
          <a:p/>
        </p:txBody>
      </p:sp>
      <p:sp>
        <p:nvSpPr>
          <p:cNvPr id="85" name="Text 83"/>
          <p:cNvSpPr/>
          <p:nvPr/>
        </p:nvSpPr>
        <p:spPr>
          <a:xfrm>
            <a:off x="8366760" y="242316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28C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欠品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9646920" y="2606040"/>
            <a:ext cx="91440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9972081" y="2766609"/>
            <a:ext cx="238110" cy="23811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10048890" y="2843418"/>
            <a:ext cx="84491" cy="84491"/>
          </a:xfrm>
          <a:prstGeom prst="ellipse">
            <a:avLst/>
          </a:prstGeom>
          <a:solidFill>
            <a:srgbClr val="FFFFFF"/>
          </a:solidFill>
          <a:ln w="1524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89" name="Shape 87"/>
          <p:cNvSpPr/>
          <p:nvPr/>
        </p:nvSpPr>
        <p:spPr>
          <a:xfrm>
            <a:off x="10215951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90" name="Shape 88"/>
          <p:cNvSpPr/>
          <p:nvPr/>
        </p:nvSpPr>
        <p:spPr>
          <a:xfrm>
            <a:off x="10175457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10077694" y="301047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9979931" y="296998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9939437" y="2872222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9979931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10077694" y="2733965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96" name="Shape 94"/>
          <p:cNvSpPr/>
          <p:nvPr/>
        </p:nvSpPr>
        <p:spPr>
          <a:xfrm>
            <a:off x="10175457" y="2774459"/>
            <a:ext cx="26883" cy="26883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97" name="Text 95"/>
          <p:cNvSpPr/>
          <p:nvPr/>
        </p:nvSpPr>
        <p:spPr>
          <a:xfrm>
            <a:off x="9646920" y="2423160"/>
            <a:ext cx="914400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キズ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263640" y="470916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99" name="Text 97"/>
          <p:cNvSpPr/>
          <p:nvPr/>
        </p:nvSpPr>
        <p:spPr>
          <a:xfrm>
            <a:off x="6492240" y="4892040"/>
            <a:ext cx="4800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差し替え欄：実際の対象・検出クラス・件数・効果指標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01" name="Text 99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https://docs.ultralytics.com/  |  https://docs.opencv.org/</a:t>
            </a:r>
            <a:endParaRPr lang="en-US" sz="6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社内事例②：作業状態・安全確認への適用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現場カメラから作業状態を認識し、アラート・記録に活用する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13</a:t>
            </a:r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04088" y="155448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04088" y="155448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536192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20010" y="1603858"/>
            <a:ext cx="230429" cy="213970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08889" y="1653235"/>
            <a:ext cx="52669" cy="724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・作業確認の負荷が大きい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・異常の見落としがある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269748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04088" y="283464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4088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70632" y="2834640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70632" y="2834640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027396" y="2834640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099816" y="2834640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770632" y="3091404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770632" y="3163824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3027396" y="3163824"/>
            <a:ext cx="72420" cy="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099816" y="3091404"/>
            <a:ext cx="0" cy="72420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895722" y="2959730"/>
            <a:ext cx="82296" cy="82296"/>
          </a:xfrm>
          <a:prstGeom prst="rect">
            <a:avLst/>
          </a:prstGeom>
          <a:solidFill>
            <a:srgbClr val="FFFFFF">
              <a:alpha val="0"/>
            </a:srgbClr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50392" y="3291840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・作業状態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・配置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・安全確認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" y="397764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04088" y="4114800"/>
            <a:ext cx="384048" cy="384048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70408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8872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803550" y="4328770"/>
            <a:ext cx="39502" cy="82296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885846" y="4262933"/>
            <a:ext cx="39502" cy="148133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968142" y="4197096"/>
            <a:ext cx="39502" cy="213970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2803550" y="4394606"/>
            <a:ext cx="250180" cy="-213970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850392" y="4572000"/>
            <a:ext cx="2286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・ミス低減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・可視化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・トレーサビリティ向上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886200" y="1508760"/>
            <a:ext cx="2240280" cy="29718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3995928" y="1645920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995928" y="1645920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343400" y="167335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現場の撮影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00800" y="1508760"/>
            <a:ext cx="2240280" cy="2971800"/>
          </a:xfrm>
          <a:prstGeom prst="roundRect">
            <a:avLst>
              <a:gd name="adj" fmla="val 4898"/>
            </a:avLst>
          </a:prstGeom>
          <a:solidFill>
            <a:srgbClr val="F6FA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510528" y="1645920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510528" y="1645920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58000" y="167335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YOLOによる認識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915400" y="1508760"/>
            <a:ext cx="2240280" cy="29718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9025128" y="1645920"/>
            <a:ext cx="301752" cy="301752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9025128" y="1645920"/>
            <a:ext cx="301752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9372600" y="1673352"/>
            <a:ext cx="1554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アラート/記録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434840" y="2167128"/>
            <a:ext cx="553212" cy="36210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4535424" y="2084832"/>
            <a:ext cx="176022" cy="90526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625950" y="2210562"/>
            <a:ext cx="170993" cy="17099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251960" y="2816352"/>
            <a:ext cx="1508760" cy="2011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4407408" y="3200400"/>
            <a:ext cx="256032" cy="2560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4535424" y="3456432"/>
            <a:ext cx="0" cy="52120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892040" y="3337560"/>
            <a:ext cx="320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5257800" y="3337560"/>
            <a:ext cx="320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6967728" y="2167128"/>
            <a:ext cx="553212" cy="362102"/>
          </a:xfrm>
          <a:prstGeom prst="roundRect">
            <a:avLst>
              <a:gd name="adj" fmla="val 30303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068312" y="2084832"/>
            <a:ext cx="176022" cy="90526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7158838" y="2210562"/>
            <a:ext cx="170993" cy="170993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766560" y="2816352"/>
            <a:ext cx="1508760" cy="20116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6931152" y="3200400"/>
            <a:ext cx="256032" cy="25603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059168" y="3456432"/>
            <a:ext cx="0" cy="52120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7406640" y="3337560"/>
            <a:ext cx="320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7772400" y="3337560"/>
            <a:ext cx="320040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6812280" y="3063240"/>
            <a:ext cx="347472" cy="347472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2BAE66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6748272" y="2852928"/>
            <a:ext cx="50292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BAE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helmet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7790688" y="3154680"/>
            <a:ext cx="329184" cy="502920"/>
          </a:xfrm>
          <a:prstGeom prst="rect">
            <a:avLst/>
          </a:prstGeom>
          <a:solidFill>
            <a:srgbClr val="FFFFFF">
              <a:alpha val="0"/>
            </a:srgbClr>
          </a:solidFill>
          <a:ln w="1397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7607808" y="3657600"/>
            <a:ext cx="6858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no_gloves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9461754" y="2164842"/>
            <a:ext cx="288036" cy="267462"/>
          </a:xfrm>
          <a:prstGeom prst="triangle">
            <a:avLst/>
          </a:prstGeom>
          <a:solidFill>
            <a:srgbClr val="FFFFFF"/>
          </a:solidFill>
          <a:ln w="17780">
            <a:solidFill>
              <a:srgbClr val="C62828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9572854" y="2226564"/>
            <a:ext cx="65837" cy="9052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9802368" y="2240280"/>
            <a:ext cx="1325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アラート：保護具未着用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464040" y="3108960"/>
            <a:ext cx="146304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9464040" y="3840480"/>
            <a:ext cx="0" cy="-96012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9464040" y="3657600"/>
            <a:ext cx="320040" cy="-228600"/>
          </a:xfrm>
          <a:prstGeom prst="line">
            <a:avLst/>
          </a:prstGeom>
          <a:noFill/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9784080" y="3429000"/>
            <a:ext cx="320040" cy="91440"/>
          </a:xfrm>
          <a:prstGeom prst="line">
            <a:avLst/>
          </a:prstGeom>
          <a:noFill/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10104120" y="3520440"/>
            <a:ext cx="365760" cy="-365760"/>
          </a:xfrm>
          <a:prstGeom prst="line">
            <a:avLst/>
          </a:prstGeom>
          <a:noFill/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10469880" y="3154680"/>
            <a:ext cx="411480" cy="91440"/>
          </a:xfrm>
          <a:prstGeom prst="line">
            <a:avLst/>
          </a:prstGeom>
          <a:noFill/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3886200" y="4892040"/>
            <a:ext cx="726948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79" name="Text 77"/>
          <p:cNvSpPr/>
          <p:nvPr/>
        </p:nvSpPr>
        <p:spPr>
          <a:xfrm>
            <a:off x="4114800" y="5047488"/>
            <a:ext cx="68122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差し替え欄：実際のアラート種別、検出画像、履歴、運用フロー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81" name="Text 79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https://docs.ultralytics.com/  |  https://www.nvidia.com/en-us/industries/robotics/</a:t>
            </a:r>
            <a:endParaRPr lang="en-US" sz="6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320040"/>
            <a:ext cx="950976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まとめ：皆さんの現場に使えないか？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41832"/>
            <a:ext cx="6355080" cy="0"/>
          </a:xfrm>
          <a:prstGeom prst="line">
            <a:avLst/>
          </a:prstGeom>
          <a:noFill/>
          <a:ln w="2032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051560"/>
            <a:ext cx="1115568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 × 物体検出 × Physical AI の入口を小さく試す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1402568" y="283464"/>
            <a:ext cx="548640" cy="384048"/>
          </a:xfrm>
          <a:prstGeom prst="roundRect">
            <a:avLst>
              <a:gd name="adj" fmla="val 28571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02568" y="283464"/>
            <a:ext cx="54864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Yu Gothic"/>
              </a:defRPr>
            </a:pPr>
            <a:r>
              <a:t>14</a:t>
            </a:r>
          </a:p>
        </p:txBody>
      </p:sp>
      <p:sp>
        <p:nvSpPr>
          <p:cNvPr id="7" name="Shape 5"/>
          <p:cNvSpPr/>
          <p:nvPr/>
        </p:nvSpPr>
        <p:spPr>
          <a:xfrm>
            <a:off x="5440680" y="2423160"/>
            <a:ext cx="1051560" cy="1051560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440680" y="2606040"/>
            <a:ext cx="10515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5394960" y="1234440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788152" y="1426464"/>
            <a:ext cx="382219" cy="250180"/>
          </a:xfrm>
          <a:prstGeom prst="roundRect">
            <a:avLst>
              <a:gd name="adj" fmla="val 43860"/>
            </a:avLst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857646" y="1344168"/>
            <a:ext cx="121615" cy="62545"/>
          </a:xfrm>
          <a:prstGeom prst="rect">
            <a:avLst/>
          </a:prstGeom>
          <a:solidFill>
            <a:srgbClr val="FFFFFF">
              <a:alpha val="0"/>
            </a:srgbClr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920191" y="1431036"/>
            <a:ext cx="118140" cy="11814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40680" y="1801368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03720" y="2423160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307336" y="2574585"/>
            <a:ext cx="243230" cy="24323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428951" y="2574585"/>
            <a:ext cx="0" cy="24323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359457" y="2630180"/>
            <a:ext cx="24323" cy="24323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394204" y="2723998"/>
            <a:ext cx="24323" cy="24323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477597" y="2647554"/>
            <a:ext cx="24323" cy="24323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505395" y="2734422"/>
            <a:ext cx="24323" cy="24323"/>
          </a:xfrm>
          <a:prstGeom prst="ellipse">
            <a:avLst/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49440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394960" y="3657600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805526" y="4027932"/>
            <a:ext cx="121615" cy="52121"/>
          </a:xfrm>
          <a:prstGeom prst="rect">
            <a:avLst/>
          </a:prstGeom>
          <a:solidFill>
            <a:srgbClr val="FFFFFF">
              <a:alpha val="0"/>
            </a:srgbClr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5864596" y="4027932"/>
            <a:ext cx="69494" cy="-104242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843748" y="4003609"/>
            <a:ext cx="55596" cy="555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934090" y="3923690"/>
            <a:ext cx="97292" cy="-52121"/>
          </a:xfrm>
          <a:prstGeom prst="line">
            <a:avLst/>
          </a:prstGeom>
          <a:noFill/>
          <a:ln w="2159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916717" y="3899367"/>
            <a:ext cx="55596" cy="555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031382" y="3871570"/>
            <a:ext cx="45171" cy="76444"/>
          </a:xfrm>
          <a:prstGeom prst="line">
            <a:avLst/>
          </a:prstGeom>
          <a:noFill/>
          <a:ln w="1905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010534" y="3847247"/>
            <a:ext cx="55596" cy="55596"/>
          </a:xfrm>
          <a:prstGeom prst="ellipse">
            <a:avLst/>
          </a:prstGeom>
          <a:solidFill>
            <a:srgbClr val="FFFFFF"/>
          </a:solidFill>
          <a:ln w="1651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076554" y="3948013"/>
            <a:ext cx="41697" cy="-17374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076554" y="3948013"/>
            <a:ext cx="38222" cy="27798"/>
          </a:xfrm>
          <a:prstGeom prst="line">
            <a:avLst/>
          </a:prstGeom>
          <a:noFill/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40680" y="4224528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動く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886200" y="2423160"/>
            <a:ext cx="11430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331513" y="2602382"/>
            <a:ext cx="121615" cy="34747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4331513" y="2602382"/>
            <a:ext cx="121615" cy="156362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331513" y="2706624"/>
            <a:ext cx="121615" cy="-69494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331513" y="2706624"/>
            <a:ext cx="121615" cy="52121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331513" y="2810866"/>
            <a:ext cx="121615" cy="-52121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4453128" y="2637130"/>
            <a:ext cx="121615" cy="52121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453128" y="2758745"/>
            <a:ext cx="121615" cy="-69494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319351" y="2590221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319351" y="2694462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319351" y="2798704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4440966" y="2624968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4440966" y="2746583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562582" y="2677089"/>
            <a:ext cx="24323" cy="24323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931920" y="2990088"/>
            <a:ext cx="1051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5989320" y="1920240"/>
            <a:ext cx="914400" cy="777240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6903720" y="3154680"/>
            <a:ext cx="-914400" cy="667512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394960" y="3822192"/>
            <a:ext cx="-777240" cy="-667512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4617720" y="2697480"/>
            <a:ext cx="777240" cy="-777240"/>
          </a:xfrm>
          <a:prstGeom prst="line">
            <a:avLst/>
          </a:prstGeom>
          <a:noFill/>
          <a:ln w="22860">
            <a:solidFill>
              <a:srgbClr val="003C8F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685800" y="1691640"/>
            <a:ext cx="3108960" cy="3566160"/>
          </a:xfrm>
          <a:prstGeom prst="roundRect">
            <a:avLst>
              <a:gd name="adj" fmla="val 3529"/>
            </a:avLst>
          </a:prstGeom>
          <a:solidFill>
            <a:srgbClr val="F6FAFF"/>
          </a:solidFill>
          <a:ln w="15240">
            <a:solidFill>
              <a:srgbClr val="8BB7F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914400" y="1920240"/>
            <a:ext cx="26517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応用候補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05840" y="2423160"/>
            <a:ext cx="228600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・目視検査の自動化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・異常検知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・個数カウント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・作業支援
</a:t>
            </a:r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・安全監視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275320" y="1691640"/>
            <a:ext cx="3246120" cy="356616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397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03920" y="1920240"/>
            <a:ext cx="2788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問いかけ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549640" y="2423160"/>
            <a:ext cx="256032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・繰り返し目視している作業はないか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・見逃したくない異常はないか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・画像を撮れば判断できそうな作業はないか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・まず小さくPoCできるテーマはないか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914400" y="5623560"/>
            <a:ext cx="10332720" cy="512064"/>
          </a:xfrm>
          <a:prstGeom prst="roundRect">
            <a:avLst>
              <a:gd name="adj" fmla="val 21429"/>
            </a:avLst>
          </a:prstGeom>
          <a:solidFill>
            <a:srgbClr val="003C8F"/>
          </a:solidFill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1097280" y="5696712"/>
            <a:ext cx="996696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画像処理は、現場を数値化し、AIと装置制御につなぐ第一歩</a:t>
            </a:r>
            <a:endParaRPr lang="en-US" sz="1700" dirty="0"/>
          </a:p>
        </p:txBody>
      </p:sp>
      <p:sp>
        <p:nvSpPr>
          <p:cNvPr id="60" name="Shape 58"/>
          <p:cNvSpPr/>
          <p:nvPr/>
        </p:nvSpPr>
        <p:spPr>
          <a:xfrm>
            <a:off x="320040" y="6437376"/>
            <a:ext cx="11567160" cy="0"/>
          </a:xfrm>
          <a:prstGeom prst="line">
            <a:avLst/>
          </a:prstGeom>
          <a:noFill/>
          <a:ln w="12700">
            <a:solidFill>
              <a:srgbClr val="003C8F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320040" y="6510528"/>
            <a:ext cx="115671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003C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参考URL: https://docs.opencv.org/  |  https://docs.ultralytics.com/  |  https://www.nvidia.com/en-us/glossary/generative-physical-ai/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画像処理の歴史とこれから</dc:title>
  <dc:subject>画像処理・物体検出・Physical AI・YOLO 15分発表資料</dc:subject>
  <dc:creator>OpenAI</dc:creator>
  <cp:lastModifiedBy>OpenAI</cp:lastModifiedBy>
  <cp:revision>1</cp:revision>
  <dcterms:created xsi:type="dcterms:W3CDTF">2026-08-23T16:42:48Z</dcterms:created>
  <dcterms:modified xsi:type="dcterms:W3CDTF">2026-08-23T16:42:48Z</dcterms:modified>
</cp:coreProperties>
</file>