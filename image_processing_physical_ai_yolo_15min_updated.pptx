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導入。今回の軸はYOLO単体ではなく、画像処理が画像からどのような情報を取り出し、Physical AI時代にどう広がるかである。最後に身近な実用例としてYOLOを扱う。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15分の流れを提示。前半は画像処理の基礎と進化、後半はYOLOと実例。Physical AIの説明が主役ではなく、画像処理がどう重要かを整理する。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画像処理の最小単位は画素。画素値の配列から、位置、面積、長さ、個数、速度といった現場で使える量を取り出すことが本質である。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二値化、ノイズ除去、輪郭抽出、ラベリングは製造業で今もよく使われる。AIに置き換わるのではなく、条件を作れるところでは最短の解になる。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物体検出の進化を、前処理の変化として説明する。従来は二値化、閾値、特徴量を人が作っていた。深層学習では特徴抽出はモデル内部に入り、人の仕事は教師データ設計へ移る。Physical AIでは画像を見やすくする前処理より、カメラ・Depth・LiDAR・ロボット座標を物理空間で一致させる前処理が重要になる。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AIは、現実世界を知覚し、推論し、行動するもの。画像処理はその入口として残るが、2Dだけではなく3D、時間、他センサ情報と統合され、世界状態を作る役割になる。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実用ではセンサー融合が重要。カメラは意味情報に強く、DepthやLiDARは距離や形状に強い。さらにロボットのエンコーダや力覚と統合して、世界状態を作る。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今後は2D検出だけでなく、Depthや3D再構築が重要になる。VGGTのように複数画像からカメラパラメータ、Depth、Point Map、トラックを推定する技術が出ている。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AIでは現在の認識だけでは不十分で、予測と行動につなげる必要がある。World ModelやVLAは、画像から行動までの距離を縮める技術として注目されている。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AIの知覚レイヤごとに日本で活躍が期待される企業・組織を整理した。L1は既存の画像検査・AIビジョン、L2は動画解析、L3は3Dセンサ・3Dビジョン、L4は自動運転由来のセンサ融合、L5はWorld ModelやVLA、ロボット制御基盤。公開情報に基づく整理であり、各社の優劣や自社での採用を示すものではない。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YOLOはPhysical AIそのものではない。2D物体検出を非常に使いやすくし、現場へのPoCをしやすくした技術として説明する。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YOLOは物体候補生成と分類を分けるのではなく、画像全体を一回の推論で見て、Bounding Box、信頼度、クラスを同時に予測する。これが高速性の理由。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YOLOはばらつきがある条件で物体の種類と位置を同時に出せるため、PoCに向く。ただしデータ準備、評価、ライセンス、誤検出時の処理設計は必要。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社内事例1。外観検査や欠品検出を想定したテンプレート。実際の対象名、写真、検出結果、時間短縮率や見逃し低減などに差し替える。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社内事例2。作業状態や安全確認を想定。人物、工具、保護具、立入エリアなどを検出し、アラートや履歴として残すと、可視化とトレーサビリティにつながる。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締め。画像処理は現場を数値化する入口であり、AIや装置制御に接続する第一歩。身近な目視作業や異常検知からPoCを始める提案で終わる。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画像処理の歴史とこれから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画像処理が「何を測り、どう物体を捉え、Physical AI時代にどう拡張されるか」を整理する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15分発表 / 社内勉強会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4114800" cy="2651760"/>
          </a:xfrm>
          <a:prstGeom prst="roundRect">
            <a:avLst>
              <a:gd name="adj" fmla="val 4138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本日のメッセージ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35204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・画像処理は、画像から物理量・状態量を取り出す技術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・二値化・輪郭抽出などの従来処理は今でも重要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・Physical AIでは、2D認識・3D幾何・センサ融合へ拡張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・その実用例としてYOLOと社内事例を紹介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9475" y="215798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5546" y="207568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1009" y="220827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2450592"/>
            <a:ext cx="36576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51115" y="207568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1115" y="220827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1115" y="234086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3703" y="207568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3703" y="220827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3703" y="234086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6291" y="207568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6291" y="220827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6291" y="234086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特徴抽出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0" y="2450592"/>
            <a:ext cx="36576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6112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242755" y="207568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42755" y="207568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430" y="207568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73107" y="207568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42755" y="248936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42755" y="260604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56430" y="260604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73107" y="248936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44289" y="2277222"/>
            <a:ext cx="132588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3427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物体検出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104120" y="2450592"/>
            <a:ext cx="36576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65276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6132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6132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960913" y="2473452"/>
            <a:ext cx="185623" cy="7955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51073" y="2473452"/>
            <a:ext cx="106070" cy="-15910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19252" y="2436327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57143" y="2314346"/>
            <a:ext cx="148499" cy="-79553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30625" y="2277222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305642" y="2234794"/>
            <a:ext cx="68946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73820" y="2197669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374587" y="2351471"/>
            <a:ext cx="63642" cy="-2651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74587" y="2351471"/>
            <a:ext cx="58339" cy="4242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2591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行動へ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48640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 → 物体検出 → 世界状態 → 判断・制御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486400" y="406908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4224528"/>
            <a:ext cx="822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44652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「YOLOすごい」で終わらず、画像処理が現場改善のどこに効くかを考える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https://docs.ultralytics.com/  |  https://www.nvidia.com/en-us/glossary/generative-physical-ai/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15分発表の流れ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前半で画像処理の役割を整理し、後半でYOLOと社内事例につなげる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73352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画像処理とは何か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1892808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画像から物理量・状態量を取り出す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313432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432304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404872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物体抽出の基本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2651760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二値化・輪郭抽出・ラベリング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072384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191256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163824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技術の進化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34440" y="341071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ルールベース → 特徴量 → 深層学習 → 3D/融合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831336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950208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922776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AI時代の画像処理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34440" y="4169664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従来処理は残り、世界状態の理解へ拡張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4590288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709160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681728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YOLOと社内事例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234440" y="4928616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使いやすい物体検出の実用例として紹介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1508760"/>
            <a:ext cx="4526280" cy="2880360"/>
          </a:xfrm>
          <a:prstGeom prst="roundRect">
            <a:avLst>
              <a:gd name="adj" fmla="val 3810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19202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184708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184708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72477" y="220370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78547" y="212140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74011" y="225399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2642616"/>
            <a:ext cx="9052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66760" y="2450592"/>
            <a:ext cx="45720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006840" y="19202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15400" y="184708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184708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17187" y="2185050"/>
            <a:ext cx="371246" cy="37124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02811" y="2185050"/>
            <a:ext cx="0" cy="37124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96740" y="2269907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49775" y="2413102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77060" y="2296424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19488" y="2429012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79992" y="2642616"/>
            <a:ext cx="9052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195560" y="2450592"/>
            <a:ext cx="45720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835640" y="19202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44200" y="184708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44200" y="184708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1156594" y="2519172"/>
            <a:ext cx="185623" cy="7955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46754" y="2519172"/>
            <a:ext cx="106070" cy="-15910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214933" y="2482047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2825" y="2360066"/>
            <a:ext cx="148499" cy="-79553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326307" y="2322942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501323" y="2280514"/>
            <a:ext cx="68946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469502" y="2243389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70269" y="2397191"/>
            <a:ext cx="63642" cy="-2651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70269" y="2397191"/>
            <a:ext cx="58339" cy="4242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08792" y="2642616"/>
            <a:ext cx="9052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713232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本日の到達点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132320" y="3730752"/>
            <a:ext cx="3703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画像処理を「AIに置き換わる技術」ではなく、現場を定量化してAIにつなぐ入口として捉える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https://docs.ultralytics.com/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画像処理は何を扱うのか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画像は「画素位置」と「画素値」の集合。そこから現場で使える量に変換する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入力：画像データ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23317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61747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9032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8750" y="23317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8750" y="261747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8750" y="29032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4500" y="23317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4500" y="261747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14500" y="29032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画素位置 (u, 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606040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画素値：輝度 / RGB / HSV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カメラから直接得られるのは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「数値の配列」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3246120"/>
            <a:ext cx="9601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49240" y="1554480"/>
            <a:ext cx="18288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06440" y="242316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2423160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7026" y="242316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2423160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2993746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315468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7026" y="315468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2993746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4418" y="2701138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337560"/>
            <a:ext cx="1463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抽出・補正・計測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52360" y="3246120"/>
            <a:ext cx="9601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32520" y="16002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出力：物理量・状態量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9006840" y="2331720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2359152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149840" y="2331720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0" y="2359152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06840" y="2770632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2798064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長さ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149840" y="2770632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49840" y="2798064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角度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06840" y="3209544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06840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個数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149840" y="3209544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49840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06840" y="364845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6840" y="367588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欠陥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149840" y="364845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49840" y="367588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22960" y="5532120"/>
            <a:ext cx="10789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" y="5614416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ポイント：画像処理は「画像を見る」ではなく、画像から現場で使える量を取り出す技術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https://docs.opencv.org/4.x/d4/dee/tutorial_optical_flow.html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物体抽出の基本：二値化・輪郭・ラベリング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昔から主流で、今でも固定条件の検査では非常に強い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0003" y="211226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6074" y="202996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1537" y="216255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元画像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2024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0604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51683" y="202996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51683" y="216255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51683" y="229514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84271" y="202996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84271" y="216255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84271" y="229514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6859" y="202996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6859" y="216255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6859" y="229514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3192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1772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58827" y="2125431"/>
            <a:ext cx="328818" cy="32881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4897" y="2231502"/>
            <a:ext cx="116677" cy="11667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5600" y="2271278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39679" y="2406284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4673" y="2462205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69668" y="2406284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13747" y="2271278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69668" y="2136273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04673" y="2080351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39679" y="2136273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ノイズ除去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94360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62940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75043" y="202996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75043" y="202996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88718" y="202996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05395" y="202996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75043" y="244364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75043" y="256032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88718" y="256032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05395" y="244364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76577" y="2231502"/>
            <a:ext cx="132588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255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輪郭抽出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95528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64108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4964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4964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39758" y="2374697"/>
            <a:ext cx="63642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72346" y="2268626"/>
            <a:ext cx="63642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04934" y="2162556"/>
            <a:ext cx="63642" cy="344729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39758" y="2480767"/>
            <a:ext cx="403068" cy="-344729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871423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物体として計測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40080" y="365760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868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従来処理が得意な条件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8680" y="4187952"/>
            <a:ext cx="4572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・カメラ・照明・背景を固定できる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・対象物の形状や色が決まっている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・高速・低コスト・説明可能な処理が必要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309360" y="36576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なぜ今でも使われるか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37960" y="4187952"/>
            <a:ext cx="4572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・学習データが不要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・画素単位の精密な計測に強い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・不良解析・装置条件の説明がしやすい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古い技術ではなく、「条件を作れる現場」では今も主力の画像処理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https://docs.opencv.org/4.x/d7/d4d/tutorial_py_thresholding.html  |  https://docs.opencv.org/4.x/d4/d73/tutorial_py_contours_begin.html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物体検出技術の進化と「人が行う前処理」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前処理は消えるのではなく、特徴設計からデータ設計・物理空間整合へ変わる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81912"/>
            <a:ext cx="1014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世代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463040" y="15087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581912"/>
            <a:ext cx="1837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特徴的な処理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88036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81912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人が行う必要がある前処理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30632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581912"/>
            <a:ext cx="30266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次世代でなくなるか？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281160" y="1508760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1581912"/>
            <a:ext cx="2020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主な使い所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1480" y="1892808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1947672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画素値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ルールベース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1463040" y="1892808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9616" y="1947672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 / 色抽出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Edge / Morphology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輪郭・ラベリング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337560" y="1892808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1947672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照明設計、ROI設定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閾値、平滑化条件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面積・円形度などの判定条件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217920" y="1892808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947672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なくならない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固定条件では今も主力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281160" y="1892808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17736" y="1947672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有無判定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寸法・個数計測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411480" y="2551176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2606040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1463040" y="2551176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99616" y="2606040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SIFT / HOG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Template / SVM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Sliding Window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337560" y="2551176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2606040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特徴量の選択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スケール・方向正規化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窓サイズ・分類器条件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6217920" y="2551176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2606040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一部残る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特定用途で有効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281160" y="2551176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17736" y="2606040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既知形状認識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ルールとの併用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411480" y="3209544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3264408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CNN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Two-stage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1463040" y="3209544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99616" y="3264408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CNN特徴抽出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Region Proposal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候補領域→分類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3337560" y="3209544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74136" y="3264408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Resize / Normalize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教師画像・BBox作成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Augmentation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217920" y="3209544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264408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前処理は減る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候補生成も学習化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9281160" y="3209544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17736" y="3264408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高精度検出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精密な認識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411480" y="3867912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" y="3922776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One-stage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1463040" y="3867912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9616" y="3922776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Letterbox / Normalize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1回の推論で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位置・種類・信頼度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3337560" y="3867912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74136" y="3922776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検出クラス定義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BBoxアノテーション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ばらつきを含むDataset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6217920" y="3867912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3922776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PoCで使いやすい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9281160" y="3867912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17736" y="3922776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複数物体検出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現場カメラ連携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411480" y="4526280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" y="4581144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3D/融合</a:t>
            </a:r>
            <a:endParaRPr lang="en-US" sz="890" dirty="0"/>
          </a:p>
        </p:txBody>
      </p:sp>
      <p:sp>
        <p:nvSpPr>
          <p:cNvPr id="59" name="Shape 57"/>
          <p:cNvSpPr/>
          <p:nvPr/>
        </p:nvSpPr>
        <p:spPr>
          <a:xfrm>
            <a:off x="1463040" y="4526280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99616" y="4581144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 / Point Cloud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Tracking / Sensor Fusion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State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337560" y="4526280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74136" y="4581144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カメラ校正、外部標定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時刻同期、座標系統一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Depth-LiDAR-Robot整合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6217920" y="4526280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54496" y="4581144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むしろ重要化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物理空間整合へ移る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9281160" y="452628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17736" y="4581144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3D把持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予測・制御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914400" y="54406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5840" y="5513832"/>
            <a:ext cx="2880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人が特徴を作る</a:t>
            </a:r>
            <a:endParaRPr lang="en-US" sz="1030" dirty="0"/>
          </a:p>
        </p:txBody>
      </p:sp>
      <p:sp>
        <p:nvSpPr>
          <p:cNvPr id="69" name="Text 67"/>
          <p:cNvSpPr/>
          <p:nvPr/>
        </p:nvSpPr>
        <p:spPr>
          <a:xfrm>
            <a:off x="1005840" y="5733288"/>
            <a:ext cx="2880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二値化・特徴量・閾値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069080" y="5696712"/>
            <a:ext cx="4114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663440" y="54406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5513832"/>
            <a:ext cx="2880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人がデータを作る</a:t>
            </a:r>
            <a:endParaRPr lang="en-US" sz="1030" dirty="0"/>
          </a:p>
        </p:txBody>
      </p:sp>
      <p:sp>
        <p:nvSpPr>
          <p:cNvPr id="73" name="Text 71"/>
          <p:cNvSpPr/>
          <p:nvPr/>
        </p:nvSpPr>
        <p:spPr>
          <a:xfrm>
            <a:off x="4754880" y="5733288"/>
            <a:ext cx="2880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教師画像・ラベル・評価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818120" y="5696712"/>
            <a:ext cx="4114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412480" y="54406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03920" y="5513832"/>
            <a:ext cx="2880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人が物理空間を合わせる</a:t>
            </a:r>
            <a:endParaRPr lang="en-US" sz="1030" dirty="0"/>
          </a:p>
        </p:txBody>
      </p:sp>
      <p:sp>
        <p:nvSpPr>
          <p:cNvPr id="77" name="Text 75"/>
          <p:cNvSpPr/>
          <p:nvPr/>
        </p:nvSpPr>
        <p:spPr>
          <a:xfrm>
            <a:off x="8503920" y="5733288"/>
            <a:ext cx="2880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校正・同期・座標変換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https://arxiv.org/abs/1506.02640  |  https://arxiv.org/abs/2005.12872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AI時代に画像処理はどうなるか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置き換わるのではなく、知覚スタックの一部として拡張される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従来の画像処理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83080" y="2459736"/>
            <a:ext cx="704088" cy="46085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1096" y="2377440"/>
            <a:ext cx="224028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6310" y="2537460"/>
            <a:ext cx="217627" cy="21762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063240"/>
            <a:ext cx="0" cy="36576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64792" y="35661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4792" y="3566160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99716" y="35661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0592" y="3566160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4792" y="4101084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64792" y="42519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99716" y="42519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4101084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5396" y="3826764"/>
            <a:ext cx="171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434840"/>
            <a:ext cx="2194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画像内の物体を抽出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位置・面積・個数を測る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160020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AIの知覚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846320" y="2459736"/>
            <a:ext cx="452628" cy="296266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28616" y="2377440"/>
            <a:ext cx="144018" cy="7406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02682" y="2480310"/>
            <a:ext cx="139903" cy="13990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7860" y="2491740"/>
            <a:ext cx="128016" cy="1280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9592" y="2491740"/>
            <a:ext cx="128016" cy="1280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2359152"/>
            <a:ext cx="128016" cy="1280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63106" y="2708910"/>
            <a:ext cx="176022" cy="7543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8602" y="2708910"/>
            <a:ext cx="100584" cy="-15087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18427" y="2673706"/>
            <a:ext cx="80467" cy="8046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9186" y="2558034"/>
            <a:ext cx="140818" cy="-75438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4040" y="2522830"/>
            <a:ext cx="80467" cy="8046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0004" y="2482596"/>
            <a:ext cx="65380" cy="110642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9829" y="2447392"/>
            <a:ext cx="80467" cy="8046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55384" y="2593238"/>
            <a:ext cx="60350" cy="-25146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5384" y="2593238"/>
            <a:ext cx="55321" cy="40234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3063240"/>
            <a:ext cx="0" cy="36576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4920" y="36118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685032"/>
            <a:ext cx="2011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世界状態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92040" y="4507992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何が・どこに・どう動き・どう操作できるか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366760" y="160020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686800" y="2423160"/>
            <a:ext cx="25603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・2D物体検出は残る
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・Depth・3D・動画に拡張
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・LiDAR・力覚・ロボット状態と融合
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・認識から予測・行動へ接続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画像処理は「物体を探す技術」から「実世界の状態をつくる知覚技術」へ広がる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https://www.nvidia.com/en-us/glossary/generative-physical-ai/  |  https://www.nvidia.com/en-us/ai/cosmos/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進化方向①：2D認識は残り、他情報と連携する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実用システムでは、既存の画像処理＋センサ融合が中心になる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32918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764792"/>
            <a:ext cx="452628" cy="296266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682496"/>
            <a:ext cx="144018" cy="7406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3330" y="1785366"/>
            <a:ext cx="139903" cy="13990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1664208"/>
            <a:ext cx="1143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Camera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35608" y="192024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色・テクスチャ・意味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1901952"/>
            <a:ext cx="640080" cy="123444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2441448"/>
            <a:ext cx="3291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542" y="2695194"/>
            <a:ext cx="115214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5101" y="2695194"/>
            <a:ext cx="115214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2575865"/>
            <a:ext cx="115214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08" y="2532888"/>
            <a:ext cx="1143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 / LiDAR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3560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距離・3D形状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0" y="2770632"/>
            <a:ext cx="640080" cy="36576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" y="3310128"/>
            <a:ext cx="32918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542" y="3728466"/>
            <a:ext cx="144018" cy="6172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7494" y="3728466"/>
            <a:ext cx="82296" cy="-123444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2805" y="3699662"/>
            <a:ext cx="65837" cy="6583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9790" y="3605022"/>
            <a:ext cx="115214" cy="-61722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9216" y="3576218"/>
            <a:ext cx="65837" cy="6583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" y="3543300"/>
            <a:ext cx="53492" cy="9052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0315" y="3514496"/>
            <a:ext cx="65837" cy="6583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28496" y="3633826"/>
            <a:ext cx="49378" cy="-20574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28496" y="3633826"/>
            <a:ext cx="45263" cy="3291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35608" y="3401568"/>
            <a:ext cx="1143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Encoder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35608" y="365760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ロボット姿勢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0" y="3639312"/>
            <a:ext cx="640080" cy="-50292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85800" y="4178808"/>
            <a:ext cx="3291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8690" y="4350258"/>
            <a:ext cx="288036" cy="267462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9790" y="4411980"/>
            <a:ext cx="65837" cy="9052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35608" y="4270248"/>
            <a:ext cx="1143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35608" y="4526280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接触・把持状態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14800" y="4507992"/>
            <a:ext cx="640080" cy="-137160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800600" y="214884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Sensor Fusion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5669280" y="2999232"/>
            <a:ext cx="320040" cy="9144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2999232"/>
            <a:ext cx="320040" cy="41148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3273552"/>
            <a:ext cx="320040" cy="-18288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0" y="3273552"/>
            <a:ext cx="320040" cy="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3547872"/>
            <a:ext cx="320040" cy="-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090672"/>
            <a:ext cx="320040" cy="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3410712"/>
            <a:ext cx="320040" cy="-18288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37276" y="2967228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37276" y="3241548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7276" y="3515868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57316" y="3058668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57316" y="3378708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77356" y="3195828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66360" y="3657600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複数情報を同じ空間表現へ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543800" y="3136392"/>
            <a:ext cx="8686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549640" y="1920240"/>
            <a:ext cx="2926080" cy="2377440"/>
          </a:xfrm>
          <a:prstGeom prst="roundRect">
            <a:avLst>
              <a:gd name="adj" fmla="val 4615"/>
            </a:avLst>
          </a:prstGeom>
          <a:solidFill>
            <a:srgbClr val="F6FAFF"/>
          </a:solidFill>
          <a:ln w="13970">
            <a:solidFill>
              <a:srgbClr val="8BB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7824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State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8915400" y="2615184"/>
            <a:ext cx="2103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・物体の種類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・2D/3D位置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・姿勢・速度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・空き空間・障害物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・把持可能性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現場では「YOLOだけ」でも「3Dだけ」でもなく、目的に応じて組み合わせる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https://research.nvidia.com/labs/toronto-ai/BEVFusion/  |  https://docs.opencv.org/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進化方向②：2Dから3D・4Dへ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物体を見つけるだけでなく、空間構造・姿勢・動きを復元する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057400" cy="2788920"/>
          </a:xfrm>
          <a:prstGeom prst="roundRect">
            <a:avLst>
              <a:gd name="adj" fmla="val 5333"/>
            </a:avLst>
          </a:prstGeom>
          <a:solidFill>
            <a:srgbClr val="F6FA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44752" y="2514600"/>
            <a:ext cx="140818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2514600"/>
            <a:ext cx="0" cy="140818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4014" y="2514600"/>
            <a:ext cx="140818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4832" y="2514600"/>
            <a:ext cx="0" cy="140818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3013862"/>
            <a:ext cx="0" cy="140818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44752" y="3154680"/>
            <a:ext cx="140818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4014" y="3154680"/>
            <a:ext cx="140818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4832" y="3013862"/>
            <a:ext cx="0" cy="140818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87982" y="2757830"/>
            <a:ext cx="160020" cy="16002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Bounding Box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(u, v, w, 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80360" y="3063240"/>
            <a:ext cx="46634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74720" y="1737360"/>
            <a:ext cx="2057400" cy="2788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187952" y="251460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7952" y="267462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87952" y="283464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7972" y="251460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7972" y="267462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7972" y="283464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7992" y="251460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267462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2834640"/>
            <a:ext cx="140818" cy="14081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距離マップ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Zを推定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23560" y="3063240"/>
            <a:ext cx="46634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17920" y="1737360"/>
            <a:ext cx="2057400" cy="2788920"/>
          </a:xfrm>
          <a:prstGeom prst="roundRect">
            <a:avLst>
              <a:gd name="adj" fmla="val 5333"/>
            </a:avLst>
          </a:prstGeom>
          <a:solidFill>
            <a:srgbClr val="F6FA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963156" y="2738628"/>
            <a:ext cx="179222" cy="17922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1581" y="2738628"/>
            <a:ext cx="179222" cy="17922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9168" y="2553005"/>
            <a:ext cx="179222" cy="17922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Cloud / Pose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(X, Y, Z)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66760" y="3063240"/>
            <a:ext cx="46634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961120" y="1737360"/>
            <a:ext cx="2057400" cy="2788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4D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738360" y="2930652"/>
            <a:ext cx="76810" cy="16002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98380" y="2802636"/>
            <a:ext cx="76810" cy="28803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0" y="2674620"/>
            <a:ext cx="76810" cy="41605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38360" y="3058668"/>
            <a:ext cx="486461" cy="-416052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918972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Tracking / Motion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(X,Y,Z,t)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68680" y="507492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525780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最近の代表技術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423160" y="5239512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 Anything V2 / DUSt3R / VGGT など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63640" y="507492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5257800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223760" y="5239512"/>
            <a:ext cx="3749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把持点推定、干渉回避、デジタルツイン、動作予測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https://arxiv.org/abs/2406.09414  |  https://openaccess.thecvf.com/content/CVPR2024/html/Wang_DUSt3R_Geometric_3D_Vision_Made_Easy_CVPR_2024_paper.html  |  https://vgg-t.github.io/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進化方向③：認識から予測・行動へ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AIでは「いま見えるもの」だけでなく「次に何が起きるか」が重要になる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6FA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2414016"/>
            <a:ext cx="623621" cy="408188"/>
          </a:xfrm>
          <a:prstGeom prst="roundRect">
            <a:avLst>
              <a:gd name="adj" fmla="val 26882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2690" y="2331720"/>
            <a:ext cx="198425" cy="102047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4737" y="2473452"/>
            <a:ext cx="192756" cy="19275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Perception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3192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78024" y="2816352"/>
            <a:ext cx="32918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71800" y="187452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12210" y="2530145"/>
            <a:ext cx="158740" cy="15874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87958" y="2530145"/>
            <a:ext cx="158740" cy="15874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7250" y="2365736"/>
            <a:ext cx="158740" cy="15874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State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33192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72584" y="2816352"/>
            <a:ext cx="32918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187452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6FA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35117" y="2700223"/>
            <a:ext cx="68031" cy="1417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6849" y="2586838"/>
            <a:ext cx="68031" cy="25511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8581" y="2473452"/>
            <a:ext cx="68031" cy="36850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35117" y="2813609"/>
            <a:ext cx="430865" cy="-368503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25780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57800" y="33192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67144" y="2816352"/>
            <a:ext cx="32918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60920" y="187452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89992" y="2399751"/>
            <a:ext cx="396850" cy="3968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8417" y="2399751"/>
            <a:ext cx="0" cy="39685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75031" y="2490460"/>
            <a:ext cx="39685" cy="3968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31724" y="2643530"/>
            <a:ext cx="39685" cy="3968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67787" y="2518806"/>
            <a:ext cx="39685" cy="3968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3141" y="2660538"/>
            <a:ext cx="39685" cy="3968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Planning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452360" y="33192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061704" y="2816352"/>
            <a:ext cx="329184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555480" y="1874520"/>
            <a:ext cx="1600200" cy="1920240"/>
          </a:xfrm>
          <a:prstGeom prst="roundRect">
            <a:avLst>
              <a:gd name="adj" fmla="val 6857"/>
            </a:avLst>
          </a:prstGeom>
          <a:solidFill>
            <a:srgbClr val="F6FA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95890" y="2756916"/>
            <a:ext cx="198425" cy="85039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2268" y="2756916"/>
            <a:ext cx="113386" cy="-170078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58252" y="2717231"/>
            <a:ext cx="90708" cy="907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05654" y="2586838"/>
            <a:ext cx="158740" cy="-85039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77307" y="2547153"/>
            <a:ext cx="90708" cy="907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64394" y="2501798"/>
            <a:ext cx="73701" cy="12472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30378" y="2462113"/>
            <a:ext cx="90708" cy="907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38094" y="2626523"/>
            <a:ext cx="68031" cy="-28346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38094" y="2626523"/>
            <a:ext cx="62362" cy="45354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46920" y="306324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646920" y="33192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2960" y="43434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156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051560" y="4864608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 → 現在の物体・位置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434840" y="4343400"/>
            <a:ext cx="6903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526280"/>
            <a:ext cx="6446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4663440" y="4864608"/>
            <a:ext cx="6446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動画・センサ → 世界状態 → 未来予測 → 行動候補 → 制御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https://ai.meta.com/blog/v-jepa-2-world-model-benchmarks/  |  https://www.nvidia.com/en-us/ai/cosmos/  |  https://deepmind.google/discover/blog/gemini-robotics-brings-ai-into-the-physical-world/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AIの知覚レイヤと期待される企業・組織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日本勢は2D検査、3Dビジョン、センサ融合、ロボット制御基盤で役割が大きい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914400" cy="393192"/>
          </a:xfrm>
          <a:prstGeom prst="roundRect">
            <a:avLst>
              <a:gd name="adj" fmla="val 27907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36192"/>
            <a:ext cx="877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1417320" y="1463040"/>
            <a:ext cx="2057400" cy="393192"/>
          </a:xfrm>
          <a:prstGeom prst="roundRect">
            <a:avLst>
              <a:gd name="adj" fmla="val 27907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1536192"/>
            <a:ext cx="2020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3063240" cy="393192"/>
          </a:xfrm>
          <a:prstGeom prst="roundRect">
            <a:avLst>
              <a:gd name="adj" fmla="val 27907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536192"/>
            <a:ext cx="30266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主な技術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537960" y="1463040"/>
            <a:ext cx="4754880" cy="393192"/>
          </a:xfrm>
          <a:prstGeom prst="roundRect">
            <a:avLst>
              <a:gd name="adj" fmla="val 27907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536192"/>
            <a:ext cx="47183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期待される会社・組織（日本中心）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02920" y="1856232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29384"/>
            <a:ext cx="822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1856232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929384"/>
            <a:ext cx="1965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2D認識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474720" y="1856232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929384"/>
            <a:ext cx="2971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AI外観検査 / YOLO / SAM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ルール＋AIの併用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537960" y="1856232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929384"/>
            <a:ext cx="4663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キーエンス、オムロン、PFN、NEC、Panasonic Connect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02920" y="2587752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60904"/>
            <a:ext cx="822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17320" y="2587752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2660904"/>
            <a:ext cx="1965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動画・追跡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474720" y="2587752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660904"/>
            <a:ext cx="2971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Tracking / Optical Flow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行動・状態の時系列化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537960" y="2587752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660904"/>
            <a:ext cx="4663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NEC、Canon、Sony、PFN、Panasonic Connect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" y="3319272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92424"/>
            <a:ext cx="822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417320" y="3319272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3392424"/>
            <a:ext cx="1965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3D幾何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3474720" y="3319272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3392424"/>
            <a:ext cx="2971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 / Point Cloud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姿勢推定 / 3D Vision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6537960" y="3319272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392424"/>
            <a:ext cx="4663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Sony SSS、キーエンス、オムロン、Mujin、川崎重工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02920" y="4050792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123944"/>
            <a:ext cx="822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417320" y="4050792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63040" y="4123944"/>
            <a:ext cx="1965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センサ融合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3474720" y="4050792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4123944"/>
            <a:ext cx="2971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Camera + LiDAR + Robot State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BEV / 座標統合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537960" y="4050792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4123944"/>
            <a:ext cx="4663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TIER IV、Woven by Toyota、DENSO、Honda R&amp;D、SUBARU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02920" y="4782312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855464"/>
            <a:ext cx="822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L5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417320" y="4782312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63040" y="4855464"/>
            <a:ext cx="19659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世界状態・行動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3474720" y="4782312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0440" y="4855464"/>
            <a:ext cx="2971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Model / VLA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ロボット基盤・制御OS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6537960" y="4782312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855464"/>
            <a:ext cx="46634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Fujitsu×FANUC/YASKAWA/Kawasaki、Noetra+AIST、PFN×Toyota、RIKEN AIP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685800" y="5532120"/>
            <a:ext cx="5120640" cy="530352"/>
          </a:xfrm>
          <a:prstGeom prst="roundRect">
            <a:avLst>
              <a:gd name="adj" fmla="val 20690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641848"/>
            <a:ext cx="47548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実用現場では L1〜L3 が先行し、L4〜L5 は自動運転・ロボット領域から拡大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72200" y="5532120"/>
            <a:ext cx="53035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5641848"/>
            <a:ext cx="49377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※公開情報からの期待領域整理。採用・提携・優劣を示すものではない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https://www.keyence.co.jp/products/vision/  |  https://www.omron.com/global/en/news/2020/06/c0629.html  |  https://www.sony-semicon.com/ja/technology/ivs/index.html  |  https://tier4.co.jp/en/  |  https://global.fujitsu/en-global/pr/news/2026/07/16-01  |  https://www.softbank.jp/en/sbnews/entry/20260727_01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物体検出の実用例としてのYOLO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ここからは、使いやすい物体検出アルゴリズムの例としてYOLOを紹介する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55648" y="23317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250317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26746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7098" y="23317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7098" y="250317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7098" y="26746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8548" y="23317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98548" y="250317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98548" y="26746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・明るさ・色・形の条件を人が設計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・照明や角度が変わると調整が必要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・説明性と速度は高い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77640" y="3200400"/>
            <a:ext cx="7315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160020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9058" y="2423160"/>
            <a:ext cx="272034" cy="77724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9058" y="2423160"/>
            <a:ext cx="272034" cy="349758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9058" y="2656332"/>
            <a:ext cx="272034" cy="-155448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9058" y="2656332"/>
            <a:ext cx="272034" cy="11658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9058" y="2889504"/>
            <a:ext cx="272034" cy="-11658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1092" y="2500884"/>
            <a:ext cx="272034" cy="11658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1092" y="2772918"/>
            <a:ext cx="272034" cy="-155448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1855" y="2395957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1855" y="2629129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51855" y="2862301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3889" y="2473681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3889" y="2745715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95923" y="2590267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・画像全体を1回の推論で処理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・物体の位置と種類を同時に出力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・複数物体を同時検出しやすい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83880" y="3200400"/>
            <a:ext cx="7315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44000" y="160020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2600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現場活用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960102" y="2850642"/>
            <a:ext cx="272034" cy="11658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92233" y="2850642"/>
            <a:ext cx="155448" cy="-233172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45598" y="2796235"/>
            <a:ext cx="124358" cy="1243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7681" y="2617470"/>
            <a:ext cx="217627" cy="-11658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08819" y="2563063"/>
            <a:ext cx="124358" cy="1243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65308" y="2500884"/>
            <a:ext cx="101041" cy="170993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18674" y="2446477"/>
            <a:ext cx="124358" cy="1243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66349" y="2671877"/>
            <a:ext cx="93269" cy="-38862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66349" y="2671877"/>
            <a:ext cx="85496" cy="62179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・OK/NG判定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・個数カウント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・安全監視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・アラート化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YOLOは、Physical AI全体ではなく「2D物体検出を現場で試しやすくした技術」と位置づける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https://arxiv.org/abs/1506.02640  |  https://docs.ultralytics.com/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YOLOの原理：One-stage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画像全体を一度に見て、位置・種類・信頼度を同時に予測する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417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28370" y="211226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202996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9903" y="216255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34056"/>
            <a:ext cx="12710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入力画像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31720" y="2450592"/>
            <a:ext cx="6400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54680" y="1600200"/>
            <a:ext cx="2194560" cy="1691640"/>
          </a:xfrm>
          <a:prstGeom prst="roundRect">
            <a:avLst>
              <a:gd name="adj" fmla="val 6486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CNN特徴抽出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43350" y="2313432"/>
            <a:ext cx="240030" cy="6858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43350" y="2313432"/>
            <a:ext cx="240030" cy="30861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43350" y="2519172"/>
            <a:ext cx="240030" cy="-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43350" y="2519172"/>
            <a:ext cx="240030" cy="10287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43350" y="2724912"/>
            <a:ext cx="240030" cy="-10287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3380" y="2382012"/>
            <a:ext cx="240030" cy="10287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3380" y="2622042"/>
            <a:ext cx="240030" cy="-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9347" y="228942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9347" y="249516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19347" y="270090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9377" y="235800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59377" y="259803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99407" y="246087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2450592"/>
            <a:ext cx="6400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1600200"/>
            <a:ext cx="2194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同時予測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9672" y="2148840"/>
            <a:ext cx="16916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x, y, w, 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class probability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2450592"/>
            <a:ext cx="6400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72600" y="1600200"/>
            <a:ext cx="2148840" cy="1691640"/>
          </a:xfrm>
          <a:prstGeom prst="roundRect">
            <a:avLst>
              <a:gd name="adj" fmla="val 6486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検出結果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582912" y="23317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08073" y="249228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BAE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84882" y="256909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51943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11449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13686" y="27361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15923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75429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15923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13686" y="245964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11449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82912" y="214884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A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gear 0.92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497312" y="23317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22473" y="249228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8C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99282" y="256909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66343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25849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28086" y="27361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30323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89829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30323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28086" y="245964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25849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97312" y="214884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bolt 0.89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4400" y="4069080"/>
            <a:ext cx="4800600" cy="1143000"/>
          </a:xfrm>
          <a:prstGeom prst="roundRect">
            <a:avLst>
              <a:gd name="adj" fmla="val 96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Two-stage型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143000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①物体候補を探す → ②候補を分類する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例：Faster R-CNN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400800" y="4069080"/>
            <a:ext cx="4800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29400" y="422452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One-stage型（YOLO）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629400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画像から位置・クラスを一気に推定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高速処理に向く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https://arxiv.org/abs/1506.02640  |  https://arxiv.org/abs/1506.01497  |  https://arxiv.org/abs/1512.02325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YOLOが現場PoCで使いやすい理由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従来画像処理と比べて、ばらつきのある物体検出に強く、試作しやすい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比較観点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00253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5740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調整方法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1460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閾値・照明・特徴量を人が調整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学習画像から特徴を学習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250545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強い条件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固定カメラ・固定照明・決まった形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明るさ・角度・背景のばらつき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00837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6324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306324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領域・輪郭・重心・寸法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306324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種類・位置・信頼度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351129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1460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条件変化で再調整が必要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教師データ・ライセンス・評価が必要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47091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メリット① 高速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26280" y="47091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メリット② 複数物体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47091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メリット③ 実装しやすい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5715000"/>
            <a:ext cx="9875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/ CLI / 学習済みモデル / 独自データ学習 / Edge展開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https://docs.ultralytics.com/  |  https://arxiv.org/abs/1506.02640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社内事例①：外観検査・欠品検出への適用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実際の写真・数値に差し替えて使える事例スライド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64592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91410" y="1695298"/>
            <a:ext cx="230429" cy="21397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0289" y="1744675"/>
            <a:ext cx="52669" cy="724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・目視確認に時間がかかる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・判定にばらつきが出る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06324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20040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42032" y="320040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2032" y="320040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98796" y="320040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1216" y="320040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2032" y="345716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352958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8796" y="352958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1216" y="345716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67122" y="3325490"/>
            <a:ext cx="82296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・部品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・欠品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・キズ・汚れ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37560" y="15087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164592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44485" y="1705173"/>
            <a:ext cx="204094" cy="20409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0322" y="1771010"/>
            <a:ext cx="72420" cy="724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53517" y="1795699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8807" y="1879495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35011" y="1914205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51214" y="1879495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16504" y="1795699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51214" y="1711902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35011" y="1677192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18807" y="1711902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93592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・カメラ撮像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・YOLO検出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・OK/NG判定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337560" y="306324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47288" y="320040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728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93192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18150" y="3414370"/>
            <a:ext cx="39502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00446" y="3348533"/>
            <a:ext cx="39502" cy="14813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2742" y="3282696"/>
            <a:ext cx="39502" cy="21397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18150" y="3480206"/>
            <a:ext cx="250180" cy="-21397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3593592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・見逃し低減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・スピード向上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・データ蓄積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263640" y="1508760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1719072"/>
            <a:ext cx="4800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カメラ＋YOLOによる判定イメージ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720840" y="3063240"/>
            <a:ext cx="4251960" cy="384048"/>
          </a:xfrm>
          <a:prstGeom prst="rect">
            <a:avLst/>
          </a:prstGeom>
          <a:solidFill>
            <a:srgbClr val="DDEBFA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12280" y="31546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44200" y="31546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49640" y="2048256"/>
            <a:ext cx="704088" cy="46085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77656" y="1965960"/>
            <a:ext cx="224028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92870" y="2125980"/>
            <a:ext cx="217627" cy="21762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69680" y="2606040"/>
            <a:ext cx="-1188720" cy="411480"/>
          </a:xfrm>
          <a:prstGeom prst="line">
            <a:avLst/>
          </a:prstGeom>
          <a:noFill/>
          <a:ln w="12700">
            <a:solidFill>
              <a:srgbClr val="B9D7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2606040"/>
            <a:ext cx="1097280" cy="411480"/>
          </a:xfrm>
          <a:prstGeom prst="line">
            <a:avLst/>
          </a:prstGeom>
          <a:noFill/>
          <a:ln w="12700">
            <a:solidFill>
              <a:srgbClr val="B9D7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86600" y="26060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11761" y="276660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BAE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88570" y="284341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55631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15137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17374" y="301047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19611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79117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19611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17374" y="27339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15137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86600" y="242316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A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66760" y="26060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91921" y="276660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8C2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68730" y="284341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935791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95297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97534" y="301047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99771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59277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99771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97534" y="27339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95297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66760" y="242316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欠品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646920" y="26060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72081" y="276660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6282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48890" y="284341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215951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75457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77694" y="301047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79931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939437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79931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77694" y="27339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75457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646920" y="242316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キズ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263640" y="470916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92240" y="4892040"/>
            <a:ext cx="4800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差し替え欄：実際の対象・検出クラス・件数・効果指標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https://docs.ultralytics.com/  |  https://docs.opencv.org/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社内事例②：作業状態・安全確認への適用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現場カメラから作業状態を認識し、アラート・記録に活用する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55448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20010" y="1603858"/>
            <a:ext cx="230429" cy="21397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8889" y="1653235"/>
            <a:ext cx="52669" cy="724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・作業確認の負荷が大きい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・異常の見落としがある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26974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283464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70632" y="283464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0632" y="283464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27396" y="283464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816" y="283464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70632" y="309140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0632" y="316382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27396" y="316382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9816" y="309140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95722" y="2959730"/>
            <a:ext cx="82296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・作業状態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・配置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・安全確認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3977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411480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03550" y="4328770"/>
            <a:ext cx="39502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5846" y="4262933"/>
            <a:ext cx="39502" cy="14813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68142" y="4197096"/>
            <a:ext cx="39502" cy="21397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03550" y="4394606"/>
            <a:ext cx="250180" cy="-21397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50392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・ミス低減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・可視化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・トレーサビリティ向上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886200" y="1508760"/>
            <a:ext cx="2240280" cy="29718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95928" y="1645920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95928" y="16459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34340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現場の撮影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1508760"/>
            <a:ext cx="2240280" cy="2971800"/>
          </a:xfrm>
          <a:prstGeom prst="roundRect">
            <a:avLst>
              <a:gd name="adj" fmla="val 4898"/>
            </a:avLst>
          </a:prstGeom>
          <a:solidFill>
            <a:srgbClr val="F6FA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1645920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16459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YOLOによる認識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915400" y="1508760"/>
            <a:ext cx="2240280" cy="29718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25128" y="1645920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25128" y="16459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37260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アラート/記録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434840" y="2167128"/>
            <a:ext cx="553212" cy="36210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35424" y="2084832"/>
            <a:ext cx="176022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5950" y="2210562"/>
            <a:ext cx="170993" cy="17099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51960" y="2816352"/>
            <a:ext cx="1508760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07408" y="3200400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35424" y="3456432"/>
            <a:ext cx="0" cy="52120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9204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5780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67728" y="2167128"/>
            <a:ext cx="553212" cy="36210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68312" y="2084832"/>
            <a:ext cx="176022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58838" y="2210562"/>
            <a:ext cx="170993" cy="17099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2816352"/>
            <a:ext cx="1508760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31152" y="3200400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168" y="3456432"/>
            <a:ext cx="0" cy="52120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0664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12280" y="3063240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BAE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48272" y="2852928"/>
            <a:ext cx="5029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BA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helmet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790688" y="3154680"/>
            <a:ext cx="32918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28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07808" y="3657600"/>
            <a:ext cx="685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no_gloves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461754" y="2164842"/>
            <a:ext cx="288036" cy="267462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C6282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72854" y="2226564"/>
            <a:ext cx="65837" cy="9052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9802368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アラート：保護具未着用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464040" y="3108960"/>
            <a:ext cx="146304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64040" y="3840480"/>
            <a:ext cx="0" cy="-96012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64040" y="3657600"/>
            <a:ext cx="320040" cy="-22860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84080" y="3429000"/>
            <a:ext cx="320040" cy="9144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04120" y="3520440"/>
            <a:ext cx="365760" cy="-36576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69880" y="3154680"/>
            <a:ext cx="411480" cy="9144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86200" y="4892040"/>
            <a:ext cx="7269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0" y="5047488"/>
            <a:ext cx="6812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差し替え欄：実際のアラート種別、検出画像、履歴、運用フロー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https://docs.ultralytics.com/  |  https://www.nvidia.com/en-us/industries/robotics/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まとめ：皆さんの現場に使えないか？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 × 物体検出 × Physical AI の入口を小さく試す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0680" y="2423160"/>
            <a:ext cx="1051560" cy="1051560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2606040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394960" y="123444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8152" y="1426464"/>
            <a:ext cx="382219" cy="250180"/>
          </a:xfrm>
          <a:prstGeom prst="roundRect">
            <a:avLst>
              <a:gd name="adj" fmla="val 43860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7646" y="1344168"/>
            <a:ext cx="121615" cy="62545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0191" y="1431036"/>
            <a:ext cx="118140" cy="1181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242316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7336" y="2574585"/>
            <a:ext cx="243230" cy="2432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8951" y="2574585"/>
            <a:ext cx="0" cy="24323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9457" y="2630180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4204" y="2723998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7597" y="2647554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5395" y="2734422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94960" y="365760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5526" y="4027932"/>
            <a:ext cx="121615" cy="52121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4596" y="4027932"/>
            <a:ext cx="69494" cy="-104242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43748" y="4003609"/>
            <a:ext cx="55596" cy="555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34090" y="3923690"/>
            <a:ext cx="97292" cy="-52121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6717" y="3899367"/>
            <a:ext cx="55596" cy="555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1382" y="3871570"/>
            <a:ext cx="45171" cy="7644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0534" y="3847247"/>
            <a:ext cx="55596" cy="555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6554" y="3948013"/>
            <a:ext cx="41697" cy="-17374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76554" y="3948013"/>
            <a:ext cx="38222" cy="2779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422452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886200" y="242316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31513" y="2602382"/>
            <a:ext cx="121615" cy="34747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31513" y="2602382"/>
            <a:ext cx="121615" cy="156362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31513" y="2706624"/>
            <a:ext cx="121615" cy="-69494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31513" y="2706624"/>
            <a:ext cx="121615" cy="52121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31513" y="2810866"/>
            <a:ext cx="121615" cy="-52121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53128" y="2637130"/>
            <a:ext cx="121615" cy="52121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53128" y="2758745"/>
            <a:ext cx="121615" cy="-69494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19351" y="2590221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19351" y="2694462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9351" y="2798704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40966" y="2624968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40966" y="2746583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62582" y="2677089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989320" y="1920240"/>
            <a:ext cx="914400" cy="77724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903720" y="3154680"/>
            <a:ext cx="-914400" cy="667512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394960" y="3822192"/>
            <a:ext cx="-777240" cy="-667512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617720" y="2697480"/>
            <a:ext cx="777240" cy="-77724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85800" y="169164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応用候補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5840" y="2423160"/>
            <a:ext cx="22860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・目視検査の自動化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・異常検知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・個数カウント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・作業支援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・安全監視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75320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1920240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問いかけ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49640" y="2423160"/>
            <a:ext cx="25603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・繰り返し目視している作業はないか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・見逃したくない異常はないか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・画像を撮れば判断できそうな作業はないか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・まず小さくPoCできるテーマはないか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14400" y="5623560"/>
            <a:ext cx="10332720" cy="512064"/>
          </a:xfrm>
          <a:prstGeom prst="roundRect">
            <a:avLst>
              <a:gd name="adj" fmla="val 21429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7280" y="5696712"/>
            <a:ext cx="9966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画像処理は、現場を数値化し、AIと装置制御につなぐ第一歩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https://docs.ultralytics.com/  |  https://www.nvidia.com/en-us/glossary/generative-physical-ai/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画像処理の歴史とこれから</dc:title>
  <dc:subject>画像処理・物体検出・Physical AI・YOLO 15分発表資料</dc:subject>
  <dc:creator>OpenAI</dc:creator>
  <cp:lastModifiedBy>OpenAI</cp:lastModifiedBy>
  <cp:revision>1</cp:revision>
  <dcterms:created xsi:type="dcterms:W3CDTF">2026-08-23T16:42:48Z</dcterms:created>
  <dcterms:modified xsi:type="dcterms:W3CDTF">2026-08-23T16:42:48Z</dcterms:modified>
</cp:coreProperties>
</file>